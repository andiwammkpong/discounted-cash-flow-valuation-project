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8" r:id="rId3"/>
    <p:sldId id="259" r:id="rId4"/>
    <p:sldId id="260" r:id="rId5"/>
    <p:sldId id="261" r:id="rId6"/>
    <p:sldId id="262" r:id="rId7"/>
    <p:sldId id="263" r:id="rId8"/>
    <p:sldId id="257" r:id="rId9"/>
    <p:sldId id="264" r:id="rId10"/>
    <p:sldId id="267" r:id="rId11"/>
    <p:sldId id="266" r:id="rId12"/>
    <p:sldId id="265"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D1E3073-531B-9E4F-B578-859CF91956CE}" v="253" dt="2026-05-07T02:49:48.426"/>
    <p1510:client id="{48955D6D-9660-627D-76DA-7ACAF5D90738}" v="4" dt="2026-05-07T03:16:01.6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484939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Welcome the audience. Introduce yourselves and the company: Evolv Technology Holdings, ticker EVLV on NASDAQ. Set up the question we'll answer: should we acquire this company at the current market price? Spoiler: our recommendation is PASS. Hand off to next presenter.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Quick company background. Founded 2013, based in Waltham, MA. The key innovation is touchless walk-through screening — no need to stop, empty pockets, or be wanded. Four product lines, all sold through multi-year SaaS subscriptions, which is what makes this an interesting recurring-revenue story (vs traditional security hardware vendors).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Scale matters. 1,200+ customers, 4 billion+ people screened. The throughput number — 3,600 people per hour per lane — is 10x what traditional metal detectors handle. The QATT designation from DHS is a real moat: it shields deploying organizations from legal liability and is hard for competitors to replicate. School safety is a particularly large untapped market.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Tailwinds are real and structural. AI shift, government funding, school safety legislation, and the data flywheel from billions of screenings. But — and this is critical — the market is still early-stage. Adoption isn't proven at scale. Competition is rising. The premium valuation already prices in significant future growth, leaving very little margin of safety if execution stumbles.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Walk through the four big assumptions. Revenue growth 40%→3% — aggressive front-loading reflecting current momentum. Gross margin 53%→60% reflecting subscription mix shift. The biggest swing factor is S,G&amp;A leverage from 60% to 27% — that's the operating leverage thesis. The NOL shield ($348.9M) is a real benefit any acquirer would inherit.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WACC of 14.07% is high but justified. Beta 1.78 reflects elevated risk for a small-cap unprofitable company. Capital structure is essentially all equity — debt barely moves the needle. Note: if you used a lower WACC like 9-10%, you'd get a higher intrinsic value, but our beta-implied cost of capital is the right number for this risk profile.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Walk through the math. PV of operations is $641M — sum of 10 years of discounted FCFs plus the discounted terminal value. Add current assets, subtract liabilities, you get equity value of $698M. Divide by 168.4M shares = $4.15. The terminal value is most of the present value, which is typical for companies with negative early FCF.</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numbers to internalize: intrinsic value $4.15, market price $7.25, premium ~75%. Even our optimistic sensitivity case (Bull) only gets to $6.44, still below market. The conclusion holds regardless of which scenario you stress-test. This is the headline of the entire presentation.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rigor check. Three scenarios: Bear ($2.28), Base ($4.15), Bull ($6.44). Bull case includes 15% faster revenue growth, 2pp higher gross margins, 3pp lower S,G&amp;A. Even with all of those favorable adjustments, intrinsic value is still below the $7.25 market price. The recommendation does not depend on conservative assumptions — it holds across the scenario range.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36E5F1-B134-9B64-FF39-2EEFC5FCFC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7D8D06-AD37-E3DA-4D4C-3D6625030E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261033-17DF-6B3F-D292-C92BAE26D007}"/>
              </a:ext>
            </a:extLst>
          </p:cNvPr>
          <p:cNvSpPr>
            <a:spLocks noGrp="1"/>
          </p:cNvSpPr>
          <p:nvPr>
            <p:ph type="body" idx="1"/>
          </p:nvPr>
        </p:nvSpPr>
        <p:spPr/>
        <p:txBody>
          <a:bodyPr/>
          <a:lstStyle/>
          <a:p>
            <a:r>
              <a:rPr lang="en-US"/>
              <a:t>This is the rigor check. Three scenarios: Bear ($2.28), Base ($4.15), Bull ($6.44). Bull case includes 15% faster revenue growth, 2pp higher gross margins, 3pp lower S,G&amp;A. Even with all of those favorable adjustments, intrinsic value is still below the $7.25 market price. The recommendation does not depend on conservative assumptions — it holds across the scenario range.</a:t>
            </a:r>
          </a:p>
        </p:txBody>
      </p:sp>
      <p:sp>
        <p:nvSpPr>
          <p:cNvPr id="4" name="Slide Number Placeholder 3">
            <a:extLst>
              <a:ext uri="{FF2B5EF4-FFF2-40B4-BE49-F238E27FC236}">
                <a16:creationId xmlns:a16="http://schemas.microsoft.com/office/drawing/2014/main" id="{4BE8CE42-0DF9-AA36-EB8D-BB3B4ABDD6C0}"/>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719777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D125E6-0B4A-55B6-09FF-C10991D961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3A4C6D-2639-778F-88FF-22544EF59E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CB3BF7-B481-9C7D-1619-9C02F37354D0}"/>
              </a:ext>
            </a:extLst>
          </p:cNvPr>
          <p:cNvSpPr>
            <a:spLocks noGrp="1"/>
          </p:cNvSpPr>
          <p:nvPr>
            <p:ph type="body" idx="1"/>
          </p:nvPr>
        </p:nvSpPr>
        <p:spPr/>
        <p:txBody>
          <a:bodyPr/>
          <a:lstStyle/>
          <a:p>
            <a:r>
              <a:rPr lang="en-US"/>
              <a:t>This is the rigor check. Three scenarios: Bear ($2.28), Base ($4.15), Bull ($6.44). Bull case includes 15% faster revenue growth, 2pp higher gross margins, 3pp lower S,G&amp;A. Even with all of those favorable adjustments, intrinsic value is still below the $7.25 market price. The recommendation does not depend on conservative assumptions — it holds across the scenario range.</a:t>
            </a:r>
          </a:p>
        </p:txBody>
      </p:sp>
      <p:sp>
        <p:nvSpPr>
          <p:cNvPr id="4" name="Slide Number Placeholder 3">
            <a:extLst>
              <a:ext uri="{FF2B5EF4-FFF2-40B4-BE49-F238E27FC236}">
                <a16:creationId xmlns:a16="http://schemas.microsoft.com/office/drawing/2014/main" id="{9F1559D7-02F4-7B96-BC69-97D9DE54C5E3}"/>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6983609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Land the conclusion firmly. PASS at current price. We listed three specific conditions where we'd reconsider: quantifiable cross-sell synergies, platform integration value, or a material price correction. Without one of those, the financial case is not there. Thank the audience and open for questions.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A4F"/>
        </a:solidFill>
        <a:effectLst/>
      </p:bgPr>
    </p:bg>
    <p:spTree>
      <p:nvGrpSpPr>
        <p:cNvPr id="1" name=""/>
        <p:cNvGrpSpPr/>
        <p:nvPr/>
      </p:nvGrpSpPr>
      <p:grpSpPr>
        <a:xfrm>
          <a:off x="0" y="0"/>
          <a:ext cx="0" cy="0"/>
          <a:chOff x="0" y="0"/>
          <a:chExt cx="0" cy="0"/>
        </a:xfrm>
      </p:grpSpPr>
      <p:sp>
        <p:nvSpPr>
          <p:cNvPr id="2" name="Shape 0"/>
          <p:cNvSpPr/>
          <p:nvPr/>
        </p:nvSpPr>
        <p:spPr>
          <a:xfrm>
            <a:off x="457200" y="1188720"/>
            <a:ext cx="73152" cy="2743200"/>
          </a:xfrm>
          <a:prstGeom prst="rect">
            <a:avLst/>
          </a:prstGeom>
          <a:solidFill>
            <a:srgbClr val="C9A547"/>
          </a:solidFill>
          <a:ln w="12700">
            <a:solidFill>
              <a:srgbClr val="C9A547"/>
            </a:solidFill>
            <a:prstDash val="solid"/>
          </a:ln>
        </p:spPr>
        <p:txBody>
          <a:bodyPr/>
          <a:lstStyle/>
          <a:p>
            <a:endParaRPr lang="en-US"/>
          </a:p>
        </p:txBody>
      </p:sp>
      <p:sp>
        <p:nvSpPr>
          <p:cNvPr id="3" name="Text 1"/>
          <p:cNvSpPr/>
          <p:nvPr/>
        </p:nvSpPr>
        <p:spPr>
          <a:xfrm>
            <a:off x="777240" y="1188720"/>
            <a:ext cx="6400800" cy="365760"/>
          </a:xfrm>
          <a:prstGeom prst="rect">
            <a:avLst/>
          </a:prstGeom>
          <a:noFill/>
          <a:ln/>
        </p:spPr>
        <p:txBody>
          <a:bodyPr wrap="square" lIns="0" tIns="0" rIns="0" bIns="0" rtlCol="0" anchor="ctr"/>
          <a:lstStyle/>
          <a:p>
            <a:pPr marL="0" indent="0">
              <a:buNone/>
            </a:pPr>
            <a:r>
              <a:rPr lang="en-US" sz="1400" b="1" kern="0" spc="400">
                <a:solidFill>
                  <a:srgbClr val="C9A547"/>
                </a:solidFill>
                <a:latin typeface="Calibri" pitchFamily="34" charset="0"/>
                <a:ea typeface="Calibri" pitchFamily="34" charset="-122"/>
                <a:cs typeface="Calibri" pitchFamily="34" charset="-120"/>
              </a:rPr>
              <a:t>NASDAQ: EVLV</a:t>
            </a:r>
            <a:endParaRPr lang="en-US" sz="1400"/>
          </a:p>
        </p:txBody>
      </p:sp>
      <p:sp>
        <p:nvSpPr>
          <p:cNvPr id="4" name="Text 2"/>
          <p:cNvSpPr/>
          <p:nvPr/>
        </p:nvSpPr>
        <p:spPr>
          <a:xfrm>
            <a:off x="777240" y="1600200"/>
            <a:ext cx="8229600" cy="868680"/>
          </a:xfrm>
          <a:prstGeom prst="rect">
            <a:avLst/>
          </a:prstGeom>
          <a:noFill/>
          <a:ln/>
        </p:spPr>
        <p:txBody>
          <a:bodyPr wrap="square" lIns="0" tIns="0" rIns="0" bIns="0" rtlCol="0" anchor="ctr"/>
          <a:lstStyle/>
          <a:p>
            <a:pPr marL="0" indent="0">
              <a:buNone/>
            </a:pPr>
            <a:r>
              <a:rPr lang="en-US" sz="4400" b="1">
                <a:solidFill>
                  <a:srgbClr val="FFFFFF"/>
                </a:solidFill>
                <a:latin typeface="Georgia" pitchFamily="34" charset="0"/>
                <a:ea typeface="Georgia" pitchFamily="34" charset="-122"/>
                <a:cs typeface="Georgia" pitchFamily="34" charset="-120"/>
              </a:rPr>
              <a:t>Evolv Technology Holdings</a:t>
            </a:r>
            <a:endParaRPr lang="en-US" sz="4400"/>
          </a:p>
        </p:txBody>
      </p:sp>
      <p:sp>
        <p:nvSpPr>
          <p:cNvPr id="5" name="Text 3"/>
          <p:cNvSpPr/>
          <p:nvPr/>
        </p:nvSpPr>
        <p:spPr>
          <a:xfrm>
            <a:off x="777240" y="2606040"/>
            <a:ext cx="8229600" cy="457200"/>
          </a:xfrm>
          <a:prstGeom prst="rect">
            <a:avLst/>
          </a:prstGeom>
          <a:noFill/>
          <a:ln/>
        </p:spPr>
        <p:txBody>
          <a:bodyPr wrap="square" lIns="0" tIns="0" rIns="0" bIns="0" rtlCol="0" anchor="ctr"/>
          <a:lstStyle/>
          <a:p>
            <a:pPr marL="0" indent="0">
              <a:buNone/>
            </a:pPr>
            <a:r>
              <a:rPr lang="en-US" sz="1800" i="1">
                <a:solidFill>
                  <a:srgbClr val="CADCFC"/>
                </a:solidFill>
                <a:latin typeface="Calibri" pitchFamily="34" charset="0"/>
                <a:ea typeface="Calibri" pitchFamily="34" charset="-122"/>
                <a:cs typeface="Calibri" pitchFamily="34" charset="-120"/>
              </a:rPr>
              <a:t>M&amp;A Valuation Analysis &amp; Acquisition Recommendation</a:t>
            </a:r>
            <a:endParaRPr lang="en-US" sz="1800"/>
          </a:p>
        </p:txBody>
      </p:sp>
      <p:sp>
        <p:nvSpPr>
          <p:cNvPr id="6" name="Text 4"/>
          <p:cNvSpPr/>
          <p:nvPr/>
        </p:nvSpPr>
        <p:spPr>
          <a:xfrm>
            <a:off x="777240" y="4023360"/>
            <a:ext cx="5486400" cy="777240"/>
          </a:xfrm>
          <a:prstGeom prst="rect">
            <a:avLst/>
          </a:prstGeom>
          <a:noFill/>
          <a:ln/>
        </p:spPr>
        <p:txBody>
          <a:bodyPr wrap="square" lIns="0" tIns="0" rIns="0" bIns="0" rtlCol="0" anchor="ctr"/>
          <a:lstStyle/>
          <a:p>
            <a:pPr marL="0" indent="0">
              <a:buNone/>
            </a:pPr>
            <a:r>
              <a:rPr lang="en-US" sz="1200">
                <a:solidFill>
                  <a:srgbClr val="CADCFC"/>
                </a:solidFill>
                <a:latin typeface="Calibri"/>
                <a:ea typeface="Calibri"/>
                <a:cs typeface="Calibri"/>
              </a:rPr>
              <a:t>Presented by: Pablo, Andiwam, Angel </a:t>
            </a:r>
            <a:endParaRPr lang="en-US" sz="1200">
              <a:latin typeface="Calibri"/>
              <a:ea typeface="Calibri"/>
              <a:cs typeface="Calibri"/>
            </a:endParaRPr>
          </a:p>
        </p:txBody>
      </p:sp>
      <p:sp>
        <p:nvSpPr>
          <p:cNvPr id="7" name="Shape 5"/>
          <p:cNvSpPr/>
          <p:nvPr/>
        </p:nvSpPr>
        <p:spPr>
          <a:xfrm>
            <a:off x="7040880" y="457200"/>
            <a:ext cx="1691640" cy="457200"/>
          </a:xfrm>
          <a:prstGeom prst="rect">
            <a:avLst/>
          </a:prstGeom>
          <a:solidFill>
            <a:srgbClr val="C8102E"/>
          </a:solidFill>
          <a:ln w="12700">
            <a:solidFill>
              <a:srgbClr val="C8102E"/>
            </a:solidFill>
            <a:prstDash val="solid"/>
          </a:ln>
        </p:spPr>
        <p:txBody>
          <a:bodyPr/>
          <a:lstStyle/>
          <a:p>
            <a:endParaRPr lang="en-US"/>
          </a:p>
        </p:txBody>
      </p:sp>
      <p:sp>
        <p:nvSpPr>
          <p:cNvPr id="8" name="Text 6"/>
          <p:cNvSpPr/>
          <p:nvPr/>
        </p:nvSpPr>
        <p:spPr>
          <a:xfrm>
            <a:off x="7040880" y="457200"/>
            <a:ext cx="1691640" cy="457200"/>
          </a:xfrm>
          <a:prstGeom prst="rect">
            <a:avLst/>
          </a:prstGeom>
          <a:noFill/>
          <a:ln/>
        </p:spPr>
        <p:txBody>
          <a:bodyPr wrap="square" lIns="0" tIns="0" rIns="0" bIns="0" rtlCol="0" anchor="ctr"/>
          <a:lstStyle/>
          <a:p>
            <a:pPr marL="0" indent="0" algn="ctr">
              <a:buNone/>
            </a:pPr>
            <a:r>
              <a:rPr lang="en-US" sz="1000" b="1" kern="0" spc="100">
                <a:solidFill>
                  <a:srgbClr val="FFFFFF"/>
                </a:solidFill>
                <a:latin typeface="Calibri" pitchFamily="34" charset="0"/>
                <a:ea typeface="Calibri" pitchFamily="34" charset="-122"/>
                <a:cs typeface="Calibri" pitchFamily="34" charset="-120"/>
              </a:rPr>
              <a:t>RECOMMENDATION: Don’t Buy</a:t>
            </a:r>
            <a:endParaRPr lang="en-US" sz="10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502920"/>
          </a:xfrm>
          <a:prstGeom prst="rect">
            <a:avLst/>
          </a:prstGeom>
          <a:noFill/>
          <a:ln/>
        </p:spPr>
        <p:txBody>
          <a:bodyPr wrap="square" lIns="0" tIns="0" rIns="0" bIns="0" rtlCol="0" anchor="ctr"/>
          <a:lstStyle/>
          <a:p>
            <a:pPr marL="0" indent="0">
              <a:buNone/>
            </a:pPr>
            <a:r>
              <a:rPr lang="en-US" sz="2600" b="1">
                <a:solidFill>
                  <a:srgbClr val="0F2A4F"/>
                </a:solidFill>
                <a:latin typeface="Georgia" pitchFamily="34" charset="0"/>
                <a:ea typeface="Georgia" pitchFamily="34" charset="-122"/>
                <a:cs typeface="Georgia" pitchFamily="34" charset="-120"/>
              </a:rPr>
              <a:t>Company Overview</a:t>
            </a:r>
            <a:endParaRPr lang="en-US" sz="2600"/>
          </a:p>
        </p:txBody>
      </p:sp>
      <p:sp>
        <p:nvSpPr>
          <p:cNvPr id="3" name="Text 1"/>
          <p:cNvSpPr/>
          <p:nvPr/>
        </p:nvSpPr>
        <p:spPr>
          <a:xfrm>
            <a:off x="457200" y="841248"/>
            <a:ext cx="8229600" cy="274320"/>
          </a:xfrm>
          <a:prstGeom prst="rect">
            <a:avLst/>
          </a:prstGeom>
          <a:noFill/>
          <a:ln/>
        </p:spPr>
        <p:txBody>
          <a:bodyPr wrap="square" lIns="0" tIns="0" rIns="0" bIns="0" rtlCol="0" anchor="ctr"/>
          <a:lstStyle/>
          <a:p>
            <a:pPr marL="0" indent="0">
              <a:buNone/>
            </a:pPr>
            <a:r>
              <a:rPr lang="en-US" sz="1300" i="1">
                <a:solidFill>
                  <a:srgbClr val="5A6878"/>
                </a:solidFill>
                <a:latin typeface="Calibri" pitchFamily="34" charset="0"/>
                <a:ea typeface="Calibri" pitchFamily="34" charset="-122"/>
                <a:cs typeface="Calibri" pitchFamily="34" charset="-120"/>
              </a:rPr>
              <a:t>AI-powered weapons detection delivered through Security-as-a-Service</a:t>
            </a:r>
            <a:endParaRPr lang="en-US" sz="1300"/>
          </a:p>
        </p:txBody>
      </p:sp>
      <p:sp>
        <p:nvSpPr>
          <p:cNvPr id="4" name="Text 2"/>
          <p:cNvSpPr/>
          <p:nvPr/>
        </p:nvSpPr>
        <p:spPr>
          <a:xfrm>
            <a:off x="457200" y="1280160"/>
            <a:ext cx="4023360" cy="320040"/>
          </a:xfrm>
          <a:prstGeom prst="rect">
            <a:avLst/>
          </a:prstGeom>
          <a:noFill/>
          <a:ln/>
        </p:spPr>
        <p:txBody>
          <a:bodyPr wrap="square" lIns="0" tIns="0" rIns="0" bIns="0" rtlCol="0" anchor="ctr"/>
          <a:lstStyle/>
          <a:p>
            <a:pPr marL="0" indent="0">
              <a:buNone/>
            </a:pPr>
            <a:r>
              <a:rPr lang="en-US" sz="1400" b="1">
                <a:solidFill>
                  <a:srgbClr val="0F2A4F"/>
                </a:solidFill>
                <a:latin typeface="Georgia" pitchFamily="34" charset="0"/>
                <a:ea typeface="Georgia" pitchFamily="34" charset="-122"/>
                <a:cs typeface="Georgia" pitchFamily="34" charset="-120"/>
              </a:rPr>
              <a:t>Who is Evolv?</a:t>
            </a:r>
            <a:endParaRPr lang="en-US" sz="1400"/>
          </a:p>
        </p:txBody>
      </p:sp>
      <p:sp>
        <p:nvSpPr>
          <p:cNvPr id="5" name="Text 3"/>
          <p:cNvSpPr/>
          <p:nvPr/>
        </p:nvSpPr>
        <p:spPr>
          <a:xfrm>
            <a:off x="457200" y="1600200"/>
            <a:ext cx="4023360" cy="274320"/>
          </a:xfrm>
          <a:prstGeom prst="rect">
            <a:avLst/>
          </a:prstGeom>
          <a:noFill/>
          <a:ln/>
        </p:spPr>
        <p:txBody>
          <a:bodyPr wrap="square" lIns="0" tIns="0" rIns="0" bIns="0" rtlCol="0" anchor="ctr"/>
          <a:lstStyle/>
          <a:p>
            <a:pPr marL="0" indent="0">
              <a:buNone/>
            </a:pPr>
            <a:r>
              <a:rPr lang="en-US" sz="1200">
                <a:solidFill>
                  <a:srgbClr val="1A1A1A"/>
                </a:solidFill>
                <a:latin typeface="Calibri" pitchFamily="34" charset="0"/>
                <a:ea typeface="Calibri" pitchFamily="34" charset="-122"/>
                <a:cs typeface="Calibri" pitchFamily="34" charset="-120"/>
              </a:rPr>
              <a:t>Founded </a:t>
            </a:r>
            <a:r>
              <a:rPr lang="en-US" sz="1200" b="1">
                <a:solidFill>
                  <a:srgbClr val="1A1A1A"/>
                </a:solidFill>
                <a:latin typeface="Calibri" pitchFamily="34" charset="0"/>
                <a:ea typeface="Calibri" pitchFamily="34" charset="-122"/>
                <a:cs typeface="Calibri" pitchFamily="34" charset="-120"/>
              </a:rPr>
              <a:t>2013</a:t>
            </a:r>
            <a:r>
              <a:rPr lang="en-US" sz="1200">
                <a:solidFill>
                  <a:srgbClr val="1A1A1A"/>
                </a:solidFill>
                <a:latin typeface="Calibri" pitchFamily="34" charset="0"/>
                <a:ea typeface="Calibri" pitchFamily="34" charset="-122"/>
                <a:cs typeface="Calibri" pitchFamily="34" charset="-120"/>
              </a:rPr>
              <a:t> | Headquartered in </a:t>
            </a:r>
            <a:r>
              <a:rPr lang="en-US" sz="1200" b="1">
                <a:solidFill>
                  <a:srgbClr val="1A1A1A"/>
                </a:solidFill>
                <a:latin typeface="Calibri" pitchFamily="34" charset="0"/>
                <a:ea typeface="Calibri" pitchFamily="34" charset="-122"/>
                <a:cs typeface="Calibri" pitchFamily="34" charset="-120"/>
              </a:rPr>
              <a:t>Waltham, MA</a:t>
            </a:r>
            <a:endParaRPr lang="en-US" sz="1200"/>
          </a:p>
        </p:txBody>
      </p:sp>
      <p:sp>
        <p:nvSpPr>
          <p:cNvPr id="6" name="Text 4"/>
          <p:cNvSpPr/>
          <p:nvPr/>
        </p:nvSpPr>
        <p:spPr>
          <a:xfrm>
            <a:off x="457200" y="1920240"/>
            <a:ext cx="4023360" cy="1691640"/>
          </a:xfrm>
          <a:prstGeom prst="rect">
            <a:avLst/>
          </a:prstGeom>
          <a:noFill/>
          <a:ln/>
        </p:spPr>
        <p:txBody>
          <a:bodyPr wrap="square" lIns="0" tIns="0" rIns="0" bIns="0" rtlCol="0" anchor="ctr"/>
          <a:lstStyle/>
          <a:p>
            <a:pPr marL="0" indent="0">
              <a:buNone/>
            </a:pPr>
            <a:r>
              <a:rPr lang="en-US" sz="1200">
                <a:solidFill>
                  <a:srgbClr val="1A1A1A"/>
                </a:solidFill>
                <a:latin typeface="Calibri" pitchFamily="34" charset="0"/>
                <a:ea typeface="Calibri" pitchFamily="34" charset="-122"/>
                <a:cs typeface="Calibri" pitchFamily="34" charset="-120"/>
              </a:rPr>
              <a:t>Evolv develops touchless, walk-through AI screening systems that detect concealed firearms, IEDs, and tactical knives without requiring people to stop, empty pockets, or be wanded. The frictionless approach distinguishes Evolv from traditional metal detector checkpoints and positions it as a next-generation alternative.</a:t>
            </a:r>
            <a:endParaRPr lang="en-US" sz="1200"/>
          </a:p>
        </p:txBody>
      </p:sp>
      <p:sp>
        <p:nvSpPr>
          <p:cNvPr id="7" name="Text 5"/>
          <p:cNvSpPr/>
          <p:nvPr/>
        </p:nvSpPr>
        <p:spPr>
          <a:xfrm>
            <a:off x="457200" y="3703320"/>
            <a:ext cx="4023360" cy="274320"/>
          </a:xfrm>
          <a:prstGeom prst="rect">
            <a:avLst/>
          </a:prstGeom>
          <a:noFill/>
          <a:ln/>
        </p:spPr>
        <p:txBody>
          <a:bodyPr wrap="square" lIns="0" tIns="0" rIns="0" bIns="0" rtlCol="0" anchor="ctr"/>
          <a:lstStyle/>
          <a:p>
            <a:pPr marL="0" indent="0">
              <a:buNone/>
            </a:pPr>
            <a:r>
              <a:rPr lang="en-US" sz="1400" b="1">
                <a:solidFill>
                  <a:srgbClr val="0F2A4F"/>
                </a:solidFill>
                <a:latin typeface="Georgia" pitchFamily="34" charset="0"/>
                <a:ea typeface="Georgia" pitchFamily="34" charset="-122"/>
                <a:cs typeface="Georgia" pitchFamily="34" charset="-120"/>
              </a:rPr>
              <a:t>Business Model</a:t>
            </a:r>
            <a:endParaRPr lang="en-US" sz="1400"/>
          </a:p>
        </p:txBody>
      </p:sp>
      <p:sp>
        <p:nvSpPr>
          <p:cNvPr id="8" name="Text 6"/>
          <p:cNvSpPr/>
          <p:nvPr/>
        </p:nvSpPr>
        <p:spPr>
          <a:xfrm>
            <a:off x="457200" y="4023360"/>
            <a:ext cx="4023360" cy="640080"/>
          </a:xfrm>
          <a:prstGeom prst="rect">
            <a:avLst/>
          </a:prstGeom>
          <a:noFill/>
          <a:ln/>
        </p:spPr>
        <p:txBody>
          <a:bodyPr wrap="square" lIns="0" tIns="0" rIns="0" bIns="0" rtlCol="0" anchor="ctr"/>
          <a:lstStyle/>
          <a:p>
            <a:pPr marL="0" indent="0">
              <a:buNone/>
            </a:pPr>
            <a:r>
              <a:rPr lang="en-US" sz="1100" i="1">
                <a:solidFill>
                  <a:srgbClr val="5A6878"/>
                </a:solidFill>
                <a:latin typeface="Calibri" pitchFamily="34" charset="0"/>
                <a:ea typeface="Calibri" pitchFamily="34" charset="-122"/>
                <a:cs typeface="Calibri" pitchFamily="34" charset="-120"/>
              </a:rPr>
              <a:t>Multi-year Security-as-a-Service subscription bundling hardware, software, AI updates, and support — recurring revenue with high gross margins at scale.</a:t>
            </a:r>
            <a:endParaRPr lang="en-US" sz="1100"/>
          </a:p>
        </p:txBody>
      </p:sp>
      <p:sp>
        <p:nvSpPr>
          <p:cNvPr id="9" name="Shape 7"/>
          <p:cNvSpPr/>
          <p:nvPr/>
        </p:nvSpPr>
        <p:spPr>
          <a:xfrm>
            <a:off x="4754880" y="1280160"/>
            <a:ext cx="3931920" cy="3383280"/>
          </a:xfrm>
          <a:prstGeom prst="rect">
            <a:avLst/>
          </a:prstGeom>
          <a:solidFill>
            <a:srgbClr val="FFFFFF"/>
          </a:solidFill>
          <a:ln w="12700">
            <a:solidFill>
              <a:srgbClr val="D5DCE5"/>
            </a:solidFill>
            <a:prstDash val="solid"/>
          </a:ln>
        </p:spPr>
        <p:txBody>
          <a:bodyPr/>
          <a:lstStyle/>
          <a:p>
            <a:endParaRPr lang="en-US"/>
          </a:p>
        </p:txBody>
      </p:sp>
      <p:sp>
        <p:nvSpPr>
          <p:cNvPr id="10" name="Shape 8"/>
          <p:cNvSpPr/>
          <p:nvPr/>
        </p:nvSpPr>
        <p:spPr>
          <a:xfrm>
            <a:off x="4754880" y="1280160"/>
            <a:ext cx="73152" cy="3383280"/>
          </a:xfrm>
          <a:prstGeom prst="rect">
            <a:avLst/>
          </a:prstGeom>
          <a:solidFill>
            <a:srgbClr val="C9A547"/>
          </a:solidFill>
          <a:ln w="12700">
            <a:solidFill>
              <a:srgbClr val="C9A547"/>
            </a:solidFill>
            <a:prstDash val="solid"/>
          </a:ln>
        </p:spPr>
        <p:txBody>
          <a:bodyPr/>
          <a:lstStyle/>
          <a:p>
            <a:endParaRPr lang="en-US"/>
          </a:p>
        </p:txBody>
      </p:sp>
      <p:sp>
        <p:nvSpPr>
          <p:cNvPr id="11" name="Text 9"/>
          <p:cNvSpPr/>
          <p:nvPr/>
        </p:nvSpPr>
        <p:spPr>
          <a:xfrm>
            <a:off x="4983480" y="1417320"/>
            <a:ext cx="3657600" cy="274320"/>
          </a:xfrm>
          <a:prstGeom prst="rect">
            <a:avLst/>
          </a:prstGeom>
          <a:noFill/>
          <a:ln/>
        </p:spPr>
        <p:txBody>
          <a:bodyPr wrap="square" lIns="0" tIns="0" rIns="0" bIns="0" rtlCol="0" anchor="ctr"/>
          <a:lstStyle/>
          <a:p>
            <a:pPr marL="0" indent="0">
              <a:buNone/>
            </a:pPr>
            <a:r>
              <a:rPr lang="en-US" sz="1000" b="1" kern="0" spc="300">
                <a:solidFill>
                  <a:srgbClr val="0F2A4F"/>
                </a:solidFill>
                <a:latin typeface="Calibri" pitchFamily="34" charset="0"/>
                <a:ea typeface="Calibri" pitchFamily="34" charset="-122"/>
                <a:cs typeface="Calibri" pitchFamily="34" charset="-120"/>
              </a:rPr>
              <a:t>CORE PRODUCTS</a:t>
            </a:r>
            <a:endParaRPr lang="en-US" sz="1000"/>
          </a:p>
        </p:txBody>
      </p:sp>
      <p:sp>
        <p:nvSpPr>
          <p:cNvPr id="12" name="Text 10"/>
          <p:cNvSpPr/>
          <p:nvPr/>
        </p:nvSpPr>
        <p:spPr>
          <a:xfrm>
            <a:off x="4983480" y="1783080"/>
            <a:ext cx="3657600" cy="274320"/>
          </a:xfrm>
          <a:prstGeom prst="rect">
            <a:avLst/>
          </a:prstGeom>
          <a:noFill/>
          <a:ln/>
        </p:spPr>
        <p:txBody>
          <a:bodyPr wrap="square" lIns="0" tIns="0" rIns="0" bIns="0" rtlCol="0" anchor="ctr"/>
          <a:lstStyle/>
          <a:p>
            <a:pPr marL="0" indent="0">
              <a:buNone/>
            </a:pPr>
            <a:r>
              <a:rPr lang="en-US" sz="1300" b="1">
                <a:solidFill>
                  <a:srgbClr val="1A1A1A"/>
                </a:solidFill>
                <a:latin typeface="Calibri" pitchFamily="34" charset="0"/>
                <a:ea typeface="Calibri" pitchFamily="34" charset="-122"/>
                <a:cs typeface="Calibri" pitchFamily="34" charset="-120"/>
              </a:rPr>
              <a:t>Evolv Express</a:t>
            </a:r>
            <a:endParaRPr lang="en-US" sz="1300"/>
          </a:p>
        </p:txBody>
      </p:sp>
      <p:sp>
        <p:nvSpPr>
          <p:cNvPr id="13" name="Text 11"/>
          <p:cNvSpPr/>
          <p:nvPr/>
        </p:nvSpPr>
        <p:spPr>
          <a:xfrm>
            <a:off x="4983480" y="2057400"/>
            <a:ext cx="3611880" cy="384048"/>
          </a:xfrm>
          <a:prstGeom prst="rect">
            <a:avLst/>
          </a:prstGeom>
          <a:noFill/>
          <a:ln/>
        </p:spPr>
        <p:txBody>
          <a:bodyPr wrap="square" lIns="0" tIns="0" rIns="0" bIns="0" rtlCol="0" anchor="ctr"/>
          <a:lstStyle/>
          <a:p>
            <a:pPr marL="0" indent="0">
              <a:buNone/>
            </a:pPr>
            <a:r>
              <a:rPr lang="en-US" sz="1050">
                <a:solidFill>
                  <a:srgbClr val="5A6878"/>
                </a:solidFill>
                <a:latin typeface="Calibri" pitchFamily="34" charset="0"/>
                <a:ea typeface="Calibri" pitchFamily="34" charset="-122"/>
                <a:cs typeface="Calibri" pitchFamily="34" charset="-120"/>
              </a:rPr>
              <a:t>Walk-through AI screener — 3,600+ people/hour per lane</a:t>
            </a:r>
            <a:endParaRPr lang="en-US" sz="1050"/>
          </a:p>
        </p:txBody>
      </p:sp>
      <p:sp>
        <p:nvSpPr>
          <p:cNvPr id="14" name="Text 12"/>
          <p:cNvSpPr/>
          <p:nvPr/>
        </p:nvSpPr>
        <p:spPr>
          <a:xfrm>
            <a:off x="4983480" y="2496312"/>
            <a:ext cx="3657600" cy="274320"/>
          </a:xfrm>
          <a:prstGeom prst="rect">
            <a:avLst/>
          </a:prstGeom>
          <a:noFill/>
          <a:ln/>
        </p:spPr>
        <p:txBody>
          <a:bodyPr wrap="square" lIns="0" tIns="0" rIns="0" bIns="0" rtlCol="0" anchor="ctr"/>
          <a:lstStyle/>
          <a:p>
            <a:pPr marL="0" indent="0">
              <a:buNone/>
            </a:pPr>
            <a:r>
              <a:rPr lang="en-US" sz="1300" b="1">
                <a:solidFill>
                  <a:srgbClr val="1A1A1A"/>
                </a:solidFill>
                <a:latin typeface="Calibri" pitchFamily="34" charset="0"/>
                <a:ea typeface="Calibri" pitchFamily="34" charset="-122"/>
                <a:cs typeface="Calibri" pitchFamily="34" charset="-120"/>
              </a:rPr>
              <a:t>Evolv eXpedite</a:t>
            </a:r>
            <a:endParaRPr lang="en-US" sz="1300"/>
          </a:p>
        </p:txBody>
      </p:sp>
      <p:sp>
        <p:nvSpPr>
          <p:cNvPr id="15" name="Text 13"/>
          <p:cNvSpPr/>
          <p:nvPr/>
        </p:nvSpPr>
        <p:spPr>
          <a:xfrm>
            <a:off x="4983480" y="2770632"/>
            <a:ext cx="3611880" cy="384048"/>
          </a:xfrm>
          <a:prstGeom prst="rect">
            <a:avLst/>
          </a:prstGeom>
          <a:noFill/>
          <a:ln/>
        </p:spPr>
        <p:txBody>
          <a:bodyPr wrap="square" lIns="0" tIns="0" rIns="0" bIns="0" rtlCol="0" anchor="ctr"/>
          <a:lstStyle/>
          <a:p>
            <a:pPr marL="0" indent="0">
              <a:buNone/>
            </a:pPr>
            <a:r>
              <a:rPr lang="en-US" sz="1050">
                <a:solidFill>
                  <a:srgbClr val="5A6878"/>
                </a:solidFill>
                <a:latin typeface="Calibri" pitchFamily="34" charset="0"/>
                <a:ea typeface="Calibri" pitchFamily="34" charset="-122"/>
                <a:cs typeface="Calibri" pitchFamily="34" charset="-120"/>
              </a:rPr>
              <a:t>AI-driven bag screening for high-clutter environments</a:t>
            </a:r>
            <a:endParaRPr lang="en-US" sz="1050"/>
          </a:p>
        </p:txBody>
      </p:sp>
      <p:sp>
        <p:nvSpPr>
          <p:cNvPr id="16" name="Text 14"/>
          <p:cNvSpPr/>
          <p:nvPr/>
        </p:nvSpPr>
        <p:spPr>
          <a:xfrm>
            <a:off x="4983480" y="3209544"/>
            <a:ext cx="3657600" cy="274320"/>
          </a:xfrm>
          <a:prstGeom prst="rect">
            <a:avLst/>
          </a:prstGeom>
          <a:noFill/>
          <a:ln/>
        </p:spPr>
        <p:txBody>
          <a:bodyPr wrap="square" lIns="0" tIns="0" rIns="0" bIns="0" rtlCol="0" anchor="ctr"/>
          <a:lstStyle/>
          <a:p>
            <a:pPr marL="0" indent="0">
              <a:buNone/>
            </a:pPr>
            <a:r>
              <a:rPr lang="en-US" sz="1300" b="1">
                <a:solidFill>
                  <a:srgbClr val="1A1A1A"/>
                </a:solidFill>
                <a:latin typeface="Calibri" pitchFamily="34" charset="0"/>
                <a:ea typeface="Calibri" pitchFamily="34" charset="-122"/>
                <a:cs typeface="Calibri" pitchFamily="34" charset="-120"/>
              </a:rPr>
              <a:t>Evolv Insights</a:t>
            </a:r>
            <a:endParaRPr lang="en-US" sz="1300"/>
          </a:p>
        </p:txBody>
      </p:sp>
      <p:sp>
        <p:nvSpPr>
          <p:cNvPr id="17" name="Text 15"/>
          <p:cNvSpPr/>
          <p:nvPr/>
        </p:nvSpPr>
        <p:spPr>
          <a:xfrm>
            <a:off x="4983480" y="3483864"/>
            <a:ext cx="3611880" cy="384048"/>
          </a:xfrm>
          <a:prstGeom prst="rect">
            <a:avLst/>
          </a:prstGeom>
          <a:noFill/>
          <a:ln/>
        </p:spPr>
        <p:txBody>
          <a:bodyPr wrap="square" lIns="0" tIns="0" rIns="0" bIns="0" rtlCol="0" anchor="ctr"/>
          <a:lstStyle/>
          <a:p>
            <a:pPr marL="0" indent="0">
              <a:buNone/>
            </a:pPr>
            <a:r>
              <a:rPr lang="en-US" sz="1050">
                <a:solidFill>
                  <a:srgbClr val="5A6878"/>
                </a:solidFill>
                <a:latin typeface="Calibri" pitchFamily="34" charset="0"/>
                <a:ea typeface="Calibri" pitchFamily="34" charset="-122"/>
                <a:cs typeface="Calibri" pitchFamily="34" charset="-120"/>
              </a:rPr>
              <a:t>Real-time SaaS analytics on visitor flow and alarms</a:t>
            </a:r>
            <a:endParaRPr lang="en-US" sz="1050"/>
          </a:p>
        </p:txBody>
      </p:sp>
      <p:sp>
        <p:nvSpPr>
          <p:cNvPr id="18" name="Text 16"/>
          <p:cNvSpPr/>
          <p:nvPr/>
        </p:nvSpPr>
        <p:spPr>
          <a:xfrm>
            <a:off x="4983480" y="3922776"/>
            <a:ext cx="3657600" cy="274320"/>
          </a:xfrm>
          <a:prstGeom prst="rect">
            <a:avLst/>
          </a:prstGeom>
          <a:noFill/>
          <a:ln/>
        </p:spPr>
        <p:txBody>
          <a:bodyPr wrap="square" lIns="0" tIns="0" rIns="0" bIns="0" rtlCol="0" anchor="ctr"/>
          <a:lstStyle/>
          <a:p>
            <a:pPr marL="0" indent="0">
              <a:buNone/>
            </a:pPr>
            <a:r>
              <a:rPr lang="en-US" sz="1300" b="1">
                <a:solidFill>
                  <a:srgbClr val="1A1A1A"/>
                </a:solidFill>
                <a:latin typeface="Calibri" pitchFamily="34" charset="0"/>
                <a:ea typeface="Calibri" pitchFamily="34" charset="-122"/>
                <a:cs typeface="Calibri" pitchFamily="34" charset="-120"/>
              </a:rPr>
              <a:t>Visual Gun Detection</a:t>
            </a:r>
            <a:endParaRPr lang="en-US" sz="1300"/>
          </a:p>
        </p:txBody>
      </p:sp>
      <p:sp>
        <p:nvSpPr>
          <p:cNvPr id="19" name="Text 17"/>
          <p:cNvSpPr/>
          <p:nvPr/>
        </p:nvSpPr>
        <p:spPr>
          <a:xfrm>
            <a:off x="4983480" y="4197096"/>
            <a:ext cx="3611880" cy="384048"/>
          </a:xfrm>
          <a:prstGeom prst="rect">
            <a:avLst/>
          </a:prstGeom>
          <a:noFill/>
          <a:ln/>
        </p:spPr>
        <p:txBody>
          <a:bodyPr wrap="square" lIns="0" tIns="0" rIns="0" bIns="0" rtlCol="0" anchor="ctr"/>
          <a:lstStyle/>
          <a:p>
            <a:pPr marL="0" indent="0">
              <a:buNone/>
            </a:pPr>
            <a:r>
              <a:rPr lang="en-US" sz="1050">
                <a:solidFill>
                  <a:srgbClr val="5A6878"/>
                </a:solidFill>
                <a:latin typeface="Calibri" pitchFamily="34" charset="0"/>
                <a:ea typeface="Calibri" pitchFamily="34" charset="-122"/>
                <a:cs typeface="Calibri" pitchFamily="34" charset="-120"/>
              </a:rPr>
              <a:t>Camera-based firearm detection system</a:t>
            </a:r>
            <a:endParaRPr lang="en-US" sz="1050"/>
          </a:p>
        </p:txBody>
      </p:sp>
      <p:sp>
        <p:nvSpPr>
          <p:cNvPr id="20" name="Text 18"/>
          <p:cNvSpPr/>
          <p:nvPr/>
        </p:nvSpPr>
        <p:spPr>
          <a:xfrm>
            <a:off x="457200" y="4864608"/>
            <a:ext cx="3657600" cy="228600"/>
          </a:xfrm>
          <a:prstGeom prst="rect">
            <a:avLst/>
          </a:prstGeom>
          <a:noFill/>
          <a:ln/>
        </p:spPr>
        <p:txBody>
          <a:bodyPr wrap="square" lIns="0" tIns="0" rIns="0" bIns="0" rtlCol="0" anchor="ctr"/>
          <a:lstStyle/>
          <a:p>
            <a:pPr marL="0" indent="0" algn="l">
              <a:buNone/>
            </a:pPr>
            <a:r>
              <a:rPr lang="en-US" sz="900">
                <a:solidFill>
                  <a:srgbClr val="5A6878"/>
                </a:solidFill>
                <a:latin typeface="Calibri" pitchFamily="34" charset="0"/>
                <a:ea typeface="Calibri" pitchFamily="34" charset="-122"/>
                <a:cs typeface="Calibri" pitchFamily="34" charset="-120"/>
              </a:rPr>
              <a:t>EVLV  |  M&amp;A Valuation</a:t>
            </a:r>
            <a:endParaRPr lang="en-US" sz="900"/>
          </a:p>
        </p:txBody>
      </p:sp>
      <p:sp>
        <p:nvSpPr>
          <p:cNvPr id="21" name="Text 19"/>
          <p:cNvSpPr/>
          <p:nvPr/>
        </p:nvSpPr>
        <p:spPr>
          <a:xfrm>
            <a:off x="8412480" y="4864608"/>
            <a:ext cx="548640" cy="228600"/>
          </a:xfrm>
          <a:prstGeom prst="rect">
            <a:avLst/>
          </a:prstGeom>
          <a:noFill/>
          <a:ln/>
        </p:spPr>
        <p:txBody>
          <a:bodyPr wrap="square" lIns="0" tIns="0" rIns="0" bIns="0" rtlCol="0" anchor="ctr"/>
          <a:lstStyle/>
          <a:p>
            <a:pPr marL="0" indent="0" algn="r">
              <a:buNone/>
            </a:pPr>
            <a:r>
              <a:rPr lang="en-US" sz="900">
                <a:solidFill>
                  <a:srgbClr val="5A6878"/>
                </a:solidFill>
                <a:latin typeface="Calibri" pitchFamily="34" charset="0"/>
                <a:ea typeface="Calibri" pitchFamily="34" charset="-122"/>
                <a:cs typeface="Calibri" pitchFamily="34" charset="-120"/>
              </a:rPr>
              <a:t>3 / 10</a:t>
            </a:r>
            <a:endParaRPr lang="en-US" sz="9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502920"/>
          </a:xfrm>
          <a:prstGeom prst="rect">
            <a:avLst/>
          </a:prstGeom>
          <a:noFill/>
          <a:ln/>
        </p:spPr>
        <p:txBody>
          <a:bodyPr wrap="square" lIns="0" tIns="0" rIns="0" bIns="0" rtlCol="0" anchor="ctr"/>
          <a:lstStyle/>
          <a:p>
            <a:pPr marL="0" indent="0">
              <a:buNone/>
            </a:pPr>
            <a:r>
              <a:rPr lang="en-US" sz="2600" b="1">
                <a:solidFill>
                  <a:srgbClr val="0F2A4F"/>
                </a:solidFill>
                <a:latin typeface="Georgia" pitchFamily="34" charset="0"/>
                <a:ea typeface="Georgia" pitchFamily="34" charset="-122"/>
                <a:cs typeface="Georgia" pitchFamily="34" charset="-120"/>
              </a:rPr>
              <a:t>Industry Position &amp; Scale</a:t>
            </a:r>
            <a:endParaRPr lang="en-US" sz="2600"/>
          </a:p>
        </p:txBody>
      </p:sp>
      <p:sp>
        <p:nvSpPr>
          <p:cNvPr id="3" name="Text 1"/>
          <p:cNvSpPr/>
          <p:nvPr/>
        </p:nvSpPr>
        <p:spPr>
          <a:xfrm>
            <a:off x="457200" y="841248"/>
            <a:ext cx="8229600" cy="274320"/>
          </a:xfrm>
          <a:prstGeom prst="rect">
            <a:avLst/>
          </a:prstGeom>
          <a:noFill/>
          <a:ln/>
        </p:spPr>
        <p:txBody>
          <a:bodyPr wrap="square" lIns="0" tIns="0" rIns="0" bIns="0" rtlCol="0" anchor="ctr"/>
          <a:lstStyle/>
          <a:p>
            <a:pPr marL="0" indent="0">
              <a:buNone/>
            </a:pPr>
            <a:r>
              <a:rPr lang="en-US" sz="1300" i="1">
                <a:solidFill>
                  <a:srgbClr val="5A6878"/>
                </a:solidFill>
                <a:latin typeface="Calibri" pitchFamily="34" charset="0"/>
                <a:ea typeface="Calibri" pitchFamily="34" charset="-122"/>
                <a:cs typeface="Calibri" pitchFamily="34" charset="-120"/>
              </a:rPr>
              <a:t>Differentiated by throughput, regulatory standing, and customer breadth</a:t>
            </a:r>
            <a:endParaRPr lang="en-US" sz="1300"/>
          </a:p>
        </p:txBody>
      </p:sp>
      <p:sp>
        <p:nvSpPr>
          <p:cNvPr id="4" name="Shape 2"/>
          <p:cNvSpPr/>
          <p:nvPr/>
        </p:nvSpPr>
        <p:spPr>
          <a:xfrm>
            <a:off x="457200" y="1280160"/>
            <a:ext cx="1920240" cy="1188720"/>
          </a:xfrm>
          <a:prstGeom prst="rect">
            <a:avLst/>
          </a:prstGeom>
          <a:solidFill>
            <a:srgbClr val="FFFFFF"/>
          </a:solidFill>
          <a:ln w="12700">
            <a:solidFill>
              <a:srgbClr val="D5DCE5"/>
            </a:solidFill>
            <a:prstDash val="solid"/>
          </a:ln>
        </p:spPr>
        <p:txBody>
          <a:bodyPr/>
          <a:lstStyle/>
          <a:p>
            <a:endParaRPr lang="en-US"/>
          </a:p>
        </p:txBody>
      </p:sp>
      <p:sp>
        <p:nvSpPr>
          <p:cNvPr id="5" name="Text 3"/>
          <p:cNvSpPr/>
          <p:nvPr/>
        </p:nvSpPr>
        <p:spPr>
          <a:xfrm>
            <a:off x="457200" y="1371600"/>
            <a:ext cx="1920240" cy="640080"/>
          </a:xfrm>
          <a:prstGeom prst="rect">
            <a:avLst/>
          </a:prstGeom>
          <a:noFill/>
          <a:ln/>
        </p:spPr>
        <p:txBody>
          <a:bodyPr wrap="square" lIns="0" tIns="0" rIns="0" bIns="0" rtlCol="0" anchor="ctr"/>
          <a:lstStyle/>
          <a:p>
            <a:pPr marL="0" indent="0" algn="ctr">
              <a:buNone/>
            </a:pPr>
            <a:r>
              <a:rPr lang="en-US" sz="2800" b="1">
                <a:solidFill>
                  <a:srgbClr val="0F2A4F"/>
                </a:solidFill>
                <a:latin typeface="Georgia" pitchFamily="34" charset="0"/>
                <a:ea typeface="Georgia" pitchFamily="34" charset="-122"/>
                <a:cs typeface="Georgia" pitchFamily="34" charset="-120"/>
              </a:rPr>
              <a:t>1,200+</a:t>
            </a:r>
            <a:endParaRPr lang="en-US" sz="2800"/>
          </a:p>
        </p:txBody>
      </p:sp>
      <p:sp>
        <p:nvSpPr>
          <p:cNvPr id="6" name="Text 4"/>
          <p:cNvSpPr/>
          <p:nvPr/>
        </p:nvSpPr>
        <p:spPr>
          <a:xfrm>
            <a:off x="548640" y="2011680"/>
            <a:ext cx="1737360" cy="365760"/>
          </a:xfrm>
          <a:prstGeom prst="rect">
            <a:avLst/>
          </a:prstGeom>
          <a:noFill/>
          <a:ln/>
        </p:spPr>
        <p:txBody>
          <a:bodyPr wrap="square" lIns="0" tIns="0" rIns="0" bIns="0" rtlCol="0" anchor="ctr"/>
          <a:lstStyle/>
          <a:p>
            <a:pPr marL="0" indent="0" algn="ctr">
              <a:buNone/>
            </a:pPr>
            <a:r>
              <a:rPr lang="en-US" sz="1000">
                <a:solidFill>
                  <a:srgbClr val="5A6878"/>
                </a:solidFill>
                <a:latin typeface="Calibri" pitchFamily="34" charset="0"/>
                <a:ea typeface="Calibri" pitchFamily="34" charset="-122"/>
                <a:cs typeface="Calibri" pitchFamily="34" charset="-120"/>
              </a:rPr>
              <a:t>Customers globally</a:t>
            </a:r>
            <a:endParaRPr lang="en-US" sz="1000"/>
          </a:p>
        </p:txBody>
      </p:sp>
      <p:sp>
        <p:nvSpPr>
          <p:cNvPr id="7" name="Shape 5"/>
          <p:cNvSpPr/>
          <p:nvPr/>
        </p:nvSpPr>
        <p:spPr>
          <a:xfrm>
            <a:off x="2537460" y="1280160"/>
            <a:ext cx="1920240" cy="1188720"/>
          </a:xfrm>
          <a:prstGeom prst="rect">
            <a:avLst/>
          </a:prstGeom>
          <a:solidFill>
            <a:srgbClr val="FFFFFF"/>
          </a:solidFill>
          <a:ln w="12700">
            <a:solidFill>
              <a:srgbClr val="D5DCE5"/>
            </a:solidFill>
            <a:prstDash val="solid"/>
          </a:ln>
        </p:spPr>
        <p:txBody>
          <a:bodyPr/>
          <a:lstStyle/>
          <a:p>
            <a:endParaRPr lang="en-US"/>
          </a:p>
        </p:txBody>
      </p:sp>
      <p:sp>
        <p:nvSpPr>
          <p:cNvPr id="8" name="Text 6"/>
          <p:cNvSpPr/>
          <p:nvPr/>
        </p:nvSpPr>
        <p:spPr>
          <a:xfrm>
            <a:off x="2537460" y="1371600"/>
            <a:ext cx="1920240" cy="640080"/>
          </a:xfrm>
          <a:prstGeom prst="rect">
            <a:avLst/>
          </a:prstGeom>
          <a:noFill/>
          <a:ln/>
        </p:spPr>
        <p:txBody>
          <a:bodyPr wrap="square" lIns="0" tIns="0" rIns="0" bIns="0" rtlCol="0" anchor="ctr"/>
          <a:lstStyle/>
          <a:p>
            <a:pPr marL="0" indent="0" algn="ctr">
              <a:buNone/>
            </a:pPr>
            <a:r>
              <a:rPr lang="en-US" sz="2800" b="1">
                <a:solidFill>
                  <a:srgbClr val="0F2A4F"/>
                </a:solidFill>
                <a:latin typeface="Georgia" pitchFamily="34" charset="0"/>
                <a:ea typeface="Georgia" pitchFamily="34" charset="-122"/>
                <a:cs typeface="Georgia" pitchFamily="34" charset="-120"/>
              </a:rPr>
              <a:t>4B+</a:t>
            </a:r>
            <a:endParaRPr lang="en-US" sz="2800"/>
          </a:p>
        </p:txBody>
      </p:sp>
      <p:sp>
        <p:nvSpPr>
          <p:cNvPr id="9" name="Text 7"/>
          <p:cNvSpPr/>
          <p:nvPr/>
        </p:nvSpPr>
        <p:spPr>
          <a:xfrm>
            <a:off x="2628900" y="2011680"/>
            <a:ext cx="1737360" cy="365760"/>
          </a:xfrm>
          <a:prstGeom prst="rect">
            <a:avLst/>
          </a:prstGeom>
          <a:noFill/>
          <a:ln/>
        </p:spPr>
        <p:txBody>
          <a:bodyPr wrap="square" lIns="0" tIns="0" rIns="0" bIns="0" rtlCol="0" anchor="ctr"/>
          <a:lstStyle/>
          <a:p>
            <a:pPr marL="0" indent="0" algn="ctr">
              <a:buNone/>
            </a:pPr>
            <a:r>
              <a:rPr lang="en-US" sz="1000">
                <a:solidFill>
                  <a:srgbClr val="5A6878"/>
                </a:solidFill>
                <a:latin typeface="Calibri" pitchFamily="34" charset="0"/>
                <a:ea typeface="Calibri" pitchFamily="34" charset="-122"/>
                <a:cs typeface="Calibri" pitchFamily="34" charset="-120"/>
              </a:rPr>
              <a:t>People screened to date</a:t>
            </a:r>
            <a:endParaRPr lang="en-US" sz="1000"/>
          </a:p>
        </p:txBody>
      </p:sp>
      <p:sp>
        <p:nvSpPr>
          <p:cNvPr id="10" name="Shape 8"/>
          <p:cNvSpPr/>
          <p:nvPr/>
        </p:nvSpPr>
        <p:spPr>
          <a:xfrm>
            <a:off x="4617720" y="1280160"/>
            <a:ext cx="1920240" cy="1188720"/>
          </a:xfrm>
          <a:prstGeom prst="rect">
            <a:avLst/>
          </a:prstGeom>
          <a:solidFill>
            <a:srgbClr val="FFFFFF"/>
          </a:solidFill>
          <a:ln w="12700">
            <a:solidFill>
              <a:srgbClr val="D5DCE5"/>
            </a:solidFill>
            <a:prstDash val="solid"/>
          </a:ln>
        </p:spPr>
        <p:txBody>
          <a:bodyPr/>
          <a:lstStyle/>
          <a:p>
            <a:endParaRPr lang="en-US"/>
          </a:p>
        </p:txBody>
      </p:sp>
      <p:sp>
        <p:nvSpPr>
          <p:cNvPr id="11" name="Text 9"/>
          <p:cNvSpPr/>
          <p:nvPr/>
        </p:nvSpPr>
        <p:spPr>
          <a:xfrm>
            <a:off x="4617720" y="1371600"/>
            <a:ext cx="1920240" cy="640080"/>
          </a:xfrm>
          <a:prstGeom prst="rect">
            <a:avLst/>
          </a:prstGeom>
          <a:noFill/>
          <a:ln/>
        </p:spPr>
        <p:txBody>
          <a:bodyPr wrap="square" lIns="0" tIns="0" rIns="0" bIns="0" rtlCol="0" anchor="ctr"/>
          <a:lstStyle/>
          <a:p>
            <a:pPr marL="0" indent="0" algn="ctr">
              <a:buNone/>
            </a:pPr>
            <a:r>
              <a:rPr lang="en-US" sz="2800" b="1">
                <a:solidFill>
                  <a:srgbClr val="0F2A4F"/>
                </a:solidFill>
                <a:latin typeface="Georgia" pitchFamily="34" charset="0"/>
                <a:ea typeface="Georgia" pitchFamily="34" charset="-122"/>
                <a:cs typeface="Georgia" pitchFamily="34" charset="-120"/>
              </a:rPr>
              <a:t>3,600</a:t>
            </a:r>
            <a:endParaRPr lang="en-US" sz="2800"/>
          </a:p>
        </p:txBody>
      </p:sp>
      <p:sp>
        <p:nvSpPr>
          <p:cNvPr id="12" name="Text 10"/>
          <p:cNvSpPr/>
          <p:nvPr/>
        </p:nvSpPr>
        <p:spPr>
          <a:xfrm>
            <a:off x="4709160" y="2011680"/>
            <a:ext cx="1737360" cy="365760"/>
          </a:xfrm>
          <a:prstGeom prst="rect">
            <a:avLst/>
          </a:prstGeom>
          <a:noFill/>
          <a:ln/>
        </p:spPr>
        <p:txBody>
          <a:bodyPr wrap="square" lIns="0" tIns="0" rIns="0" bIns="0" rtlCol="0" anchor="ctr"/>
          <a:lstStyle/>
          <a:p>
            <a:pPr marL="0" indent="0" algn="ctr">
              <a:buNone/>
            </a:pPr>
            <a:r>
              <a:rPr lang="en-US" sz="1000">
                <a:solidFill>
                  <a:srgbClr val="5A6878"/>
                </a:solidFill>
                <a:latin typeface="Calibri" pitchFamily="34" charset="0"/>
                <a:ea typeface="Calibri" pitchFamily="34" charset="-122"/>
                <a:cs typeface="Calibri" pitchFamily="34" charset="-120"/>
              </a:rPr>
              <a:t>People/hour throughput</a:t>
            </a:r>
            <a:endParaRPr lang="en-US" sz="1000"/>
          </a:p>
        </p:txBody>
      </p:sp>
      <p:sp>
        <p:nvSpPr>
          <p:cNvPr id="13" name="Shape 11"/>
          <p:cNvSpPr/>
          <p:nvPr/>
        </p:nvSpPr>
        <p:spPr>
          <a:xfrm>
            <a:off x="6697980" y="1280160"/>
            <a:ext cx="1920240" cy="1188720"/>
          </a:xfrm>
          <a:prstGeom prst="rect">
            <a:avLst/>
          </a:prstGeom>
          <a:solidFill>
            <a:srgbClr val="FFFFFF"/>
          </a:solidFill>
          <a:ln w="12700">
            <a:solidFill>
              <a:srgbClr val="D5DCE5"/>
            </a:solidFill>
            <a:prstDash val="solid"/>
          </a:ln>
        </p:spPr>
        <p:txBody>
          <a:bodyPr/>
          <a:lstStyle/>
          <a:p>
            <a:endParaRPr lang="en-US"/>
          </a:p>
        </p:txBody>
      </p:sp>
      <p:sp>
        <p:nvSpPr>
          <p:cNvPr id="14" name="Text 12"/>
          <p:cNvSpPr/>
          <p:nvPr/>
        </p:nvSpPr>
        <p:spPr>
          <a:xfrm>
            <a:off x="6697980" y="1371600"/>
            <a:ext cx="1920240" cy="640080"/>
          </a:xfrm>
          <a:prstGeom prst="rect">
            <a:avLst/>
          </a:prstGeom>
          <a:noFill/>
          <a:ln/>
        </p:spPr>
        <p:txBody>
          <a:bodyPr wrap="square" lIns="0" tIns="0" rIns="0" bIns="0" rtlCol="0" anchor="ctr"/>
          <a:lstStyle/>
          <a:p>
            <a:pPr marL="0" indent="0" algn="ctr">
              <a:buNone/>
            </a:pPr>
            <a:r>
              <a:rPr lang="en-US" sz="2800" b="1">
                <a:solidFill>
                  <a:srgbClr val="0F2A4F"/>
                </a:solidFill>
                <a:latin typeface="Georgia" pitchFamily="34" charset="0"/>
                <a:ea typeface="Georgia" pitchFamily="34" charset="-122"/>
                <a:cs typeface="Georgia" pitchFamily="34" charset="-120"/>
              </a:rPr>
              <a:t>QATT</a:t>
            </a:r>
            <a:endParaRPr lang="en-US" sz="2800"/>
          </a:p>
        </p:txBody>
      </p:sp>
      <p:sp>
        <p:nvSpPr>
          <p:cNvPr id="15" name="Text 13"/>
          <p:cNvSpPr/>
          <p:nvPr/>
        </p:nvSpPr>
        <p:spPr>
          <a:xfrm>
            <a:off x="6789420" y="2011680"/>
            <a:ext cx="1737360" cy="365760"/>
          </a:xfrm>
          <a:prstGeom prst="rect">
            <a:avLst/>
          </a:prstGeom>
          <a:noFill/>
          <a:ln/>
        </p:spPr>
        <p:txBody>
          <a:bodyPr wrap="square" lIns="0" tIns="0" rIns="0" bIns="0" rtlCol="0" anchor="ctr"/>
          <a:lstStyle/>
          <a:p>
            <a:pPr marL="0" indent="0" algn="ctr">
              <a:buNone/>
            </a:pPr>
            <a:r>
              <a:rPr lang="en-US" sz="1000">
                <a:solidFill>
                  <a:srgbClr val="5A6878"/>
                </a:solidFill>
                <a:latin typeface="Calibri" pitchFamily="34" charset="0"/>
                <a:ea typeface="Calibri" pitchFamily="34" charset="-122"/>
                <a:cs typeface="Calibri" pitchFamily="34" charset="-120"/>
              </a:rPr>
              <a:t>DHS SAFETY Act designation</a:t>
            </a:r>
            <a:endParaRPr lang="en-US" sz="1000"/>
          </a:p>
        </p:txBody>
      </p:sp>
      <p:sp>
        <p:nvSpPr>
          <p:cNvPr id="16" name="Text 14"/>
          <p:cNvSpPr/>
          <p:nvPr/>
        </p:nvSpPr>
        <p:spPr>
          <a:xfrm>
            <a:off x="457200" y="2697480"/>
            <a:ext cx="8229600" cy="274320"/>
          </a:xfrm>
          <a:prstGeom prst="rect">
            <a:avLst/>
          </a:prstGeom>
          <a:noFill/>
          <a:ln/>
        </p:spPr>
        <p:txBody>
          <a:bodyPr wrap="square" lIns="0" tIns="0" rIns="0" bIns="0" rtlCol="0" anchor="ctr"/>
          <a:lstStyle/>
          <a:p>
            <a:pPr marL="0" indent="0">
              <a:buNone/>
            </a:pPr>
            <a:r>
              <a:rPr lang="en-US" sz="1300" b="1">
                <a:solidFill>
                  <a:srgbClr val="0F2A4F"/>
                </a:solidFill>
                <a:latin typeface="Georgia" pitchFamily="34" charset="0"/>
                <a:ea typeface="Georgia" pitchFamily="34" charset="-122"/>
                <a:cs typeface="Georgia" pitchFamily="34" charset="-120"/>
              </a:rPr>
              <a:t>Sectors Served</a:t>
            </a:r>
            <a:endParaRPr lang="en-US" sz="1300"/>
          </a:p>
        </p:txBody>
      </p:sp>
      <p:sp>
        <p:nvSpPr>
          <p:cNvPr id="17" name="Text 15"/>
          <p:cNvSpPr/>
          <p:nvPr/>
        </p:nvSpPr>
        <p:spPr>
          <a:xfrm>
            <a:off x="457200" y="2990088"/>
            <a:ext cx="8229600" cy="320040"/>
          </a:xfrm>
          <a:prstGeom prst="rect">
            <a:avLst/>
          </a:prstGeom>
          <a:noFill/>
          <a:ln/>
        </p:spPr>
        <p:txBody>
          <a:bodyPr wrap="square" lIns="0" tIns="0" rIns="0" bIns="0" rtlCol="0" anchor="ctr"/>
          <a:lstStyle/>
          <a:p>
            <a:pPr marL="0" indent="0">
              <a:buNone/>
            </a:pPr>
            <a:r>
              <a:rPr lang="en-US" sz="1200">
                <a:solidFill>
                  <a:srgbClr val="1A1A1A"/>
                </a:solidFill>
                <a:latin typeface="Calibri" pitchFamily="34" charset="0"/>
                <a:ea typeface="Calibri" pitchFamily="34" charset="-122"/>
                <a:cs typeface="Calibri" pitchFamily="34" charset="-120"/>
              </a:rPr>
              <a:t>Professional sports  •  Entertainment &amp; venues  •  Healthcare systems  •  Education (K-12 &amp; higher ed)  •  Government &amp; corporate offices</a:t>
            </a:r>
            <a:endParaRPr lang="en-US" sz="1200"/>
          </a:p>
        </p:txBody>
      </p:sp>
      <p:sp>
        <p:nvSpPr>
          <p:cNvPr id="18" name="Shape 16"/>
          <p:cNvSpPr/>
          <p:nvPr/>
        </p:nvSpPr>
        <p:spPr>
          <a:xfrm>
            <a:off x="457200" y="3520440"/>
            <a:ext cx="8229600" cy="1051560"/>
          </a:xfrm>
          <a:prstGeom prst="rect">
            <a:avLst/>
          </a:prstGeom>
          <a:solidFill>
            <a:srgbClr val="0F2A4F"/>
          </a:solidFill>
          <a:ln w="12700">
            <a:solidFill>
              <a:srgbClr val="0F2A4F"/>
            </a:solidFill>
            <a:prstDash val="solid"/>
          </a:ln>
        </p:spPr>
        <p:txBody>
          <a:bodyPr/>
          <a:lstStyle/>
          <a:p>
            <a:endParaRPr lang="en-US"/>
          </a:p>
        </p:txBody>
      </p:sp>
      <p:sp>
        <p:nvSpPr>
          <p:cNvPr id="19" name="Text 17"/>
          <p:cNvSpPr/>
          <p:nvPr/>
        </p:nvSpPr>
        <p:spPr>
          <a:xfrm>
            <a:off x="640080" y="3611880"/>
            <a:ext cx="7863840" cy="274320"/>
          </a:xfrm>
          <a:prstGeom prst="rect">
            <a:avLst/>
          </a:prstGeom>
          <a:noFill/>
          <a:ln/>
        </p:spPr>
        <p:txBody>
          <a:bodyPr wrap="square" lIns="0" tIns="0" rIns="0" bIns="0" rtlCol="0" anchor="ctr"/>
          <a:lstStyle/>
          <a:p>
            <a:pPr marL="0" indent="0">
              <a:buNone/>
            </a:pPr>
            <a:r>
              <a:rPr lang="en-US" sz="1000" b="1" kern="0" spc="300">
                <a:solidFill>
                  <a:srgbClr val="C9A547"/>
                </a:solidFill>
                <a:latin typeface="Calibri" pitchFamily="34" charset="0"/>
                <a:ea typeface="Calibri" pitchFamily="34" charset="-122"/>
                <a:cs typeface="Calibri" pitchFamily="34" charset="-120"/>
              </a:rPr>
              <a:t>WHY THIS MATTERS FOR VALUATION</a:t>
            </a:r>
            <a:endParaRPr lang="en-US" sz="1000"/>
          </a:p>
        </p:txBody>
      </p:sp>
      <p:sp>
        <p:nvSpPr>
          <p:cNvPr id="20" name="Text 18"/>
          <p:cNvSpPr/>
          <p:nvPr/>
        </p:nvSpPr>
        <p:spPr>
          <a:xfrm>
            <a:off x="640080" y="3886200"/>
            <a:ext cx="7863840" cy="640080"/>
          </a:xfrm>
          <a:prstGeom prst="rect">
            <a:avLst/>
          </a:prstGeom>
          <a:noFill/>
          <a:ln/>
        </p:spPr>
        <p:txBody>
          <a:bodyPr wrap="square" lIns="0" tIns="0" rIns="0" bIns="0" rtlCol="0" anchor="ctr"/>
          <a:lstStyle/>
          <a:p>
            <a:pPr marL="0" indent="0">
              <a:buNone/>
            </a:pPr>
            <a:r>
              <a:rPr lang="en-US" sz="1100">
                <a:solidFill>
                  <a:srgbClr val="FFFFFF"/>
                </a:solidFill>
                <a:latin typeface="Calibri" pitchFamily="34" charset="0"/>
                <a:ea typeface="Calibri" pitchFamily="34" charset="-122"/>
                <a:cs typeface="Calibri" pitchFamily="34" charset="-120"/>
              </a:rPr>
              <a:t>The DHS SAFETY Act QATT certification is a regulatory moat — it reduces legal liability for venues that deploy Evolv and is extremely difficult for competitors to obtain. Combined with the frictionless model, this positions Evolv well for the K-12 school safety market, a large and largely unaddressed opportunity now seeing legislative tailwinds.</a:t>
            </a:r>
            <a:endParaRPr lang="en-US" sz="1100"/>
          </a:p>
        </p:txBody>
      </p:sp>
      <p:sp>
        <p:nvSpPr>
          <p:cNvPr id="21" name="Text 19"/>
          <p:cNvSpPr/>
          <p:nvPr/>
        </p:nvSpPr>
        <p:spPr>
          <a:xfrm>
            <a:off x="457200" y="4864608"/>
            <a:ext cx="3657600" cy="228600"/>
          </a:xfrm>
          <a:prstGeom prst="rect">
            <a:avLst/>
          </a:prstGeom>
          <a:noFill/>
          <a:ln/>
        </p:spPr>
        <p:txBody>
          <a:bodyPr wrap="square" lIns="0" tIns="0" rIns="0" bIns="0" rtlCol="0" anchor="ctr"/>
          <a:lstStyle/>
          <a:p>
            <a:pPr marL="0" indent="0" algn="l">
              <a:buNone/>
            </a:pPr>
            <a:r>
              <a:rPr lang="en-US" sz="900">
                <a:solidFill>
                  <a:srgbClr val="5A6878"/>
                </a:solidFill>
                <a:latin typeface="Calibri" pitchFamily="34" charset="0"/>
                <a:ea typeface="Calibri" pitchFamily="34" charset="-122"/>
                <a:cs typeface="Calibri" pitchFamily="34" charset="-120"/>
              </a:rPr>
              <a:t>EVLV  |  M&amp;A Valuation</a:t>
            </a:r>
            <a:endParaRPr lang="en-US" sz="900"/>
          </a:p>
        </p:txBody>
      </p:sp>
      <p:sp>
        <p:nvSpPr>
          <p:cNvPr id="22" name="Text 20"/>
          <p:cNvSpPr/>
          <p:nvPr/>
        </p:nvSpPr>
        <p:spPr>
          <a:xfrm>
            <a:off x="8412480" y="4864608"/>
            <a:ext cx="548640" cy="228600"/>
          </a:xfrm>
          <a:prstGeom prst="rect">
            <a:avLst/>
          </a:prstGeom>
          <a:noFill/>
          <a:ln/>
        </p:spPr>
        <p:txBody>
          <a:bodyPr wrap="square" lIns="0" tIns="0" rIns="0" bIns="0" rtlCol="0" anchor="ctr"/>
          <a:lstStyle/>
          <a:p>
            <a:pPr marL="0" indent="0" algn="r">
              <a:buNone/>
            </a:pPr>
            <a:r>
              <a:rPr lang="en-US" sz="900">
                <a:solidFill>
                  <a:srgbClr val="5A6878"/>
                </a:solidFill>
                <a:latin typeface="Calibri" pitchFamily="34" charset="0"/>
                <a:ea typeface="Calibri" pitchFamily="34" charset="-122"/>
                <a:cs typeface="Calibri" pitchFamily="34" charset="-120"/>
              </a:rPr>
              <a:t>4 / 10</a:t>
            </a:r>
            <a:endParaRPr lang="en-US" sz="9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502920"/>
          </a:xfrm>
          <a:prstGeom prst="rect">
            <a:avLst/>
          </a:prstGeom>
          <a:noFill/>
          <a:ln/>
        </p:spPr>
        <p:txBody>
          <a:bodyPr wrap="square" lIns="0" tIns="0" rIns="0" bIns="0" rtlCol="0" anchor="ctr"/>
          <a:lstStyle/>
          <a:p>
            <a:pPr marL="0" indent="0">
              <a:buNone/>
            </a:pPr>
            <a:r>
              <a:rPr lang="en-US" sz="2600" b="1">
                <a:solidFill>
                  <a:srgbClr val="0F2A4F"/>
                </a:solidFill>
                <a:latin typeface="Georgia" pitchFamily="34" charset="0"/>
                <a:ea typeface="Georgia" pitchFamily="34" charset="-122"/>
                <a:cs typeface="Georgia" pitchFamily="34" charset="-120"/>
              </a:rPr>
              <a:t>Industry Trends &amp; Risks</a:t>
            </a:r>
            <a:endParaRPr lang="en-US" sz="2600"/>
          </a:p>
        </p:txBody>
      </p:sp>
      <p:sp>
        <p:nvSpPr>
          <p:cNvPr id="3" name="Text 1"/>
          <p:cNvSpPr/>
          <p:nvPr/>
        </p:nvSpPr>
        <p:spPr>
          <a:xfrm>
            <a:off x="457200" y="841248"/>
            <a:ext cx="8229600" cy="274320"/>
          </a:xfrm>
          <a:prstGeom prst="rect">
            <a:avLst/>
          </a:prstGeom>
          <a:noFill/>
          <a:ln/>
        </p:spPr>
        <p:txBody>
          <a:bodyPr wrap="square" lIns="0" tIns="0" rIns="0" bIns="0" rtlCol="0" anchor="ctr"/>
          <a:lstStyle/>
          <a:p>
            <a:pPr marL="0" indent="0">
              <a:buNone/>
            </a:pPr>
            <a:r>
              <a:rPr lang="en-US" sz="1300" i="1">
                <a:solidFill>
                  <a:srgbClr val="5A6878"/>
                </a:solidFill>
                <a:latin typeface="Calibri" pitchFamily="34" charset="0"/>
                <a:ea typeface="Calibri" pitchFamily="34" charset="-122"/>
                <a:cs typeface="Calibri" pitchFamily="34" charset="-120"/>
              </a:rPr>
              <a:t>Strong tailwinds, but early-stage market introduces meaningful execution risk</a:t>
            </a:r>
            <a:endParaRPr lang="en-US" sz="1300"/>
          </a:p>
        </p:txBody>
      </p:sp>
      <p:sp>
        <p:nvSpPr>
          <p:cNvPr id="4" name="Shape 2"/>
          <p:cNvSpPr/>
          <p:nvPr/>
        </p:nvSpPr>
        <p:spPr>
          <a:xfrm>
            <a:off x="457200" y="1280160"/>
            <a:ext cx="4023360" cy="3246120"/>
          </a:xfrm>
          <a:prstGeom prst="rect">
            <a:avLst/>
          </a:prstGeom>
          <a:solidFill>
            <a:srgbClr val="FFFFFF"/>
          </a:solidFill>
          <a:ln w="12700">
            <a:solidFill>
              <a:srgbClr val="D5DCE5"/>
            </a:solidFill>
            <a:prstDash val="solid"/>
          </a:ln>
        </p:spPr>
        <p:txBody>
          <a:bodyPr/>
          <a:lstStyle/>
          <a:p>
            <a:endParaRPr lang="en-US"/>
          </a:p>
        </p:txBody>
      </p:sp>
      <p:sp>
        <p:nvSpPr>
          <p:cNvPr id="5" name="Shape 3"/>
          <p:cNvSpPr/>
          <p:nvPr/>
        </p:nvSpPr>
        <p:spPr>
          <a:xfrm>
            <a:off x="457200" y="1280160"/>
            <a:ext cx="4023360" cy="411480"/>
          </a:xfrm>
          <a:prstGeom prst="rect">
            <a:avLst/>
          </a:prstGeom>
          <a:solidFill>
            <a:srgbClr val="0F2A4F"/>
          </a:solidFill>
          <a:ln w="12700">
            <a:solidFill>
              <a:srgbClr val="0F2A4F"/>
            </a:solidFill>
            <a:prstDash val="solid"/>
          </a:ln>
        </p:spPr>
        <p:txBody>
          <a:bodyPr/>
          <a:lstStyle/>
          <a:p>
            <a:endParaRPr lang="en-US"/>
          </a:p>
        </p:txBody>
      </p:sp>
      <p:sp>
        <p:nvSpPr>
          <p:cNvPr id="6" name="Text 4"/>
          <p:cNvSpPr/>
          <p:nvPr/>
        </p:nvSpPr>
        <p:spPr>
          <a:xfrm>
            <a:off x="640080" y="1280160"/>
            <a:ext cx="3657600" cy="411480"/>
          </a:xfrm>
          <a:prstGeom prst="rect">
            <a:avLst/>
          </a:prstGeom>
          <a:noFill/>
          <a:ln/>
        </p:spPr>
        <p:txBody>
          <a:bodyPr wrap="square" lIns="0" tIns="0" rIns="0" bIns="0" rtlCol="0" anchor="ctr"/>
          <a:lstStyle/>
          <a:p>
            <a:pPr marL="0" indent="0">
              <a:buNone/>
            </a:pPr>
            <a:r>
              <a:rPr lang="en-US" sz="1300" b="1" kern="0" spc="200">
                <a:solidFill>
                  <a:srgbClr val="FFFFFF"/>
                </a:solidFill>
                <a:latin typeface="Calibri" pitchFamily="34" charset="0"/>
                <a:ea typeface="Calibri" pitchFamily="34" charset="-122"/>
                <a:cs typeface="Calibri" pitchFamily="34" charset="-120"/>
              </a:rPr>
              <a:t>✓  TAILWINDS</a:t>
            </a:r>
            <a:endParaRPr lang="en-US" sz="1300"/>
          </a:p>
        </p:txBody>
      </p:sp>
      <p:sp>
        <p:nvSpPr>
          <p:cNvPr id="7" name="Text 5"/>
          <p:cNvSpPr/>
          <p:nvPr/>
        </p:nvSpPr>
        <p:spPr>
          <a:xfrm>
            <a:off x="640080" y="1874520"/>
            <a:ext cx="3657600" cy="256032"/>
          </a:xfrm>
          <a:prstGeom prst="rect">
            <a:avLst/>
          </a:prstGeom>
          <a:noFill/>
          <a:ln/>
        </p:spPr>
        <p:txBody>
          <a:bodyPr wrap="square" lIns="0" tIns="0" rIns="0" bIns="0" rtlCol="0" anchor="ctr"/>
          <a:lstStyle/>
          <a:p>
            <a:pPr marL="0" indent="0">
              <a:buNone/>
            </a:pPr>
            <a:r>
              <a:rPr lang="en-US" sz="1200" b="1">
                <a:solidFill>
                  <a:srgbClr val="0F2A4F"/>
                </a:solidFill>
                <a:latin typeface="Calibri" pitchFamily="34" charset="0"/>
                <a:ea typeface="Calibri" pitchFamily="34" charset="-122"/>
                <a:cs typeface="Calibri" pitchFamily="34" charset="-120"/>
              </a:rPr>
              <a:t>AI shift in security</a:t>
            </a:r>
            <a:endParaRPr lang="en-US" sz="1200"/>
          </a:p>
        </p:txBody>
      </p:sp>
      <p:sp>
        <p:nvSpPr>
          <p:cNvPr id="8" name="Text 6"/>
          <p:cNvSpPr/>
          <p:nvPr/>
        </p:nvSpPr>
        <p:spPr>
          <a:xfrm>
            <a:off x="640080" y="2130552"/>
            <a:ext cx="3657600" cy="384048"/>
          </a:xfrm>
          <a:prstGeom prst="rect">
            <a:avLst/>
          </a:prstGeom>
          <a:noFill/>
          <a:ln/>
        </p:spPr>
        <p:txBody>
          <a:bodyPr wrap="square" lIns="0" tIns="0" rIns="0" bIns="0" rtlCol="0" anchor="ctr"/>
          <a:lstStyle/>
          <a:p>
            <a:pPr marL="0" indent="0">
              <a:buNone/>
            </a:pPr>
            <a:r>
              <a:rPr lang="en-US" sz="1000">
                <a:solidFill>
                  <a:srgbClr val="5A6878"/>
                </a:solidFill>
                <a:latin typeface="Calibri" pitchFamily="34" charset="0"/>
                <a:ea typeface="Calibri" pitchFamily="34" charset="-122"/>
                <a:cs typeface="Calibri" pitchFamily="34" charset="-120"/>
              </a:rPr>
              <a:t>Industry moving from traditional checkpoints to AI-powered, high-throughput systems</a:t>
            </a:r>
            <a:endParaRPr lang="en-US" sz="1000"/>
          </a:p>
        </p:txBody>
      </p:sp>
      <p:sp>
        <p:nvSpPr>
          <p:cNvPr id="9" name="Text 7"/>
          <p:cNvSpPr/>
          <p:nvPr/>
        </p:nvSpPr>
        <p:spPr>
          <a:xfrm>
            <a:off x="640080" y="2514600"/>
            <a:ext cx="3657600" cy="256032"/>
          </a:xfrm>
          <a:prstGeom prst="rect">
            <a:avLst/>
          </a:prstGeom>
          <a:noFill/>
          <a:ln/>
        </p:spPr>
        <p:txBody>
          <a:bodyPr wrap="square" lIns="0" tIns="0" rIns="0" bIns="0" rtlCol="0" anchor="ctr"/>
          <a:lstStyle/>
          <a:p>
            <a:pPr marL="0" indent="0">
              <a:buNone/>
            </a:pPr>
            <a:r>
              <a:rPr lang="en-US" sz="1200" b="1">
                <a:solidFill>
                  <a:srgbClr val="0F2A4F"/>
                </a:solidFill>
                <a:latin typeface="Calibri" pitchFamily="34" charset="0"/>
                <a:ea typeface="Calibri" pitchFamily="34" charset="-122"/>
                <a:cs typeface="Calibri" pitchFamily="34" charset="-120"/>
              </a:rPr>
              <a:t>DHS funding</a:t>
            </a:r>
            <a:endParaRPr lang="en-US" sz="1200"/>
          </a:p>
        </p:txBody>
      </p:sp>
      <p:sp>
        <p:nvSpPr>
          <p:cNvPr id="10" name="Text 8"/>
          <p:cNvSpPr/>
          <p:nvPr/>
        </p:nvSpPr>
        <p:spPr>
          <a:xfrm>
            <a:off x="640080" y="2770632"/>
            <a:ext cx="3657600" cy="384048"/>
          </a:xfrm>
          <a:prstGeom prst="rect">
            <a:avLst/>
          </a:prstGeom>
          <a:noFill/>
          <a:ln/>
        </p:spPr>
        <p:txBody>
          <a:bodyPr wrap="square" lIns="0" tIns="0" rIns="0" bIns="0" rtlCol="0" anchor="ctr"/>
          <a:lstStyle/>
          <a:p>
            <a:pPr marL="0" indent="0">
              <a:buNone/>
            </a:pPr>
            <a:r>
              <a:rPr lang="en-US" sz="1000">
                <a:solidFill>
                  <a:srgbClr val="5A6878"/>
                </a:solidFill>
                <a:latin typeface="Calibri" pitchFamily="34" charset="0"/>
                <a:ea typeface="Calibri" pitchFamily="34" charset="-122"/>
                <a:cs typeface="Calibri" pitchFamily="34" charset="-120"/>
              </a:rPr>
              <a:t>Significant federal allocation toward AI-enabled screening at federal facilities and transit hubs</a:t>
            </a:r>
            <a:endParaRPr lang="en-US" sz="1000"/>
          </a:p>
        </p:txBody>
      </p:sp>
      <p:sp>
        <p:nvSpPr>
          <p:cNvPr id="11" name="Text 9"/>
          <p:cNvSpPr/>
          <p:nvPr/>
        </p:nvSpPr>
        <p:spPr>
          <a:xfrm>
            <a:off x="640080" y="3154680"/>
            <a:ext cx="3657600" cy="256032"/>
          </a:xfrm>
          <a:prstGeom prst="rect">
            <a:avLst/>
          </a:prstGeom>
          <a:noFill/>
          <a:ln/>
        </p:spPr>
        <p:txBody>
          <a:bodyPr wrap="square" lIns="0" tIns="0" rIns="0" bIns="0" rtlCol="0" anchor="ctr"/>
          <a:lstStyle/>
          <a:p>
            <a:pPr marL="0" indent="0">
              <a:buNone/>
            </a:pPr>
            <a:r>
              <a:rPr lang="en-US" sz="1200" b="1">
                <a:solidFill>
                  <a:srgbClr val="0F2A4F"/>
                </a:solidFill>
                <a:latin typeface="Calibri" pitchFamily="34" charset="0"/>
                <a:ea typeface="Calibri" pitchFamily="34" charset="-122"/>
                <a:cs typeface="Calibri" pitchFamily="34" charset="-120"/>
              </a:rPr>
              <a:t>School safety legislation</a:t>
            </a:r>
            <a:endParaRPr lang="en-US" sz="1200"/>
          </a:p>
        </p:txBody>
      </p:sp>
      <p:sp>
        <p:nvSpPr>
          <p:cNvPr id="12" name="Text 10"/>
          <p:cNvSpPr/>
          <p:nvPr/>
        </p:nvSpPr>
        <p:spPr>
          <a:xfrm>
            <a:off x="640080" y="3410712"/>
            <a:ext cx="3657600" cy="384048"/>
          </a:xfrm>
          <a:prstGeom prst="rect">
            <a:avLst/>
          </a:prstGeom>
          <a:noFill/>
          <a:ln/>
        </p:spPr>
        <p:txBody>
          <a:bodyPr wrap="square" lIns="0" tIns="0" rIns="0" bIns="0" rtlCol="0" anchor="ctr"/>
          <a:lstStyle/>
          <a:p>
            <a:pPr marL="0" indent="0">
              <a:buNone/>
            </a:pPr>
            <a:r>
              <a:rPr lang="en-US" sz="1000">
                <a:solidFill>
                  <a:srgbClr val="5A6878"/>
                </a:solidFill>
                <a:latin typeface="Calibri" pitchFamily="34" charset="0"/>
                <a:ea typeface="Calibri" pitchFamily="34" charset="-122"/>
                <a:cs typeface="Calibri" pitchFamily="34" charset="-120"/>
              </a:rPr>
              <a:t>Multiple U.S. states have enacted or proposed K-12 screening mandates</a:t>
            </a:r>
            <a:endParaRPr lang="en-US" sz="1000"/>
          </a:p>
        </p:txBody>
      </p:sp>
      <p:sp>
        <p:nvSpPr>
          <p:cNvPr id="13" name="Text 11"/>
          <p:cNvSpPr/>
          <p:nvPr/>
        </p:nvSpPr>
        <p:spPr>
          <a:xfrm>
            <a:off x="640080" y="3794760"/>
            <a:ext cx="3657600" cy="256032"/>
          </a:xfrm>
          <a:prstGeom prst="rect">
            <a:avLst/>
          </a:prstGeom>
          <a:noFill/>
          <a:ln/>
        </p:spPr>
        <p:txBody>
          <a:bodyPr wrap="square" lIns="0" tIns="0" rIns="0" bIns="0" rtlCol="0" anchor="ctr"/>
          <a:lstStyle/>
          <a:p>
            <a:pPr marL="0" indent="0">
              <a:buNone/>
            </a:pPr>
            <a:r>
              <a:rPr lang="en-US" sz="1200" b="1">
                <a:solidFill>
                  <a:srgbClr val="0F2A4F"/>
                </a:solidFill>
                <a:latin typeface="Calibri" pitchFamily="34" charset="0"/>
                <a:ea typeface="Calibri" pitchFamily="34" charset="-122"/>
                <a:cs typeface="Calibri" pitchFamily="34" charset="-120"/>
              </a:rPr>
              <a:t>Data flywheel</a:t>
            </a:r>
            <a:endParaRPr lang="en-US" sz="1200"/>
          </a:p>
        </p:txBody>
      </p:sp>
      <p:sp>
        <p:nvSpPr>
          <p:cNvPr id="14" name="Text 12"/>
          <p:cNvSpPr/>
          <p:nvPr/>
        </p:nvSpPr>
        <p:spPr>
          <a:xfrm>
            <a:off x="640080" y="4050792"/>
            <a:ext cx="3657600" cy="384048"/>
          </a:xfrm>
          <a:prstGeom prst="rect">
            <a:avLst/>
          </a:prstGeom>
          <a:noFill/>
          <a:ln/>
        </p:spPr>
        <p:txBody>
          <a:bodyPr wrap="square" lIns="0" tIns="0" rIns="0" bIns="0" rtlCol="0" anchor="ctr"/>
          <a:lstStyle/>
          <a:p>
            <a:pPr marL="0" indent="0">
              <a:buNone/>
            </a:pPr>
            <a:r>
              <a:rPr lang="en-US" sz="1000">
                <a:solidFill>
                  <a:srgbClr val="5A6878"/>
                </a:solidFill>
                <a:latin typeface="Calibri" pitchFamily="34" charset="0"/>
                <a:ea typeface="Calibri" pitchFamily="34" charset="-122"/>
                <a:cs typeface="Calibri" pitchFamily="34" charset="-120"/>
              </a:rPr>
              <a:t>Real-world screening data continuously improves AI detection models</a:t>
            </a:r>
            <a:endParaRPr lang="en-US" sz="1000"/>
          </a:p>
        </p:txBody>
      </p:sp>
      <p:sp>
        <p:nvSpPr>
          <p:cNvPr id="15" name="Shape 13"/>
          <p:cNvSpPr/>
          <p:nvPr/>
        </p:nvSpPr>
        <p:spPr>
          <a:xfrm>
            <a:off x="4663440" y="1280160"/>
            <a:ext cx="4023360" cy="3246120"/>
          </a:xfrm>
          <a:prstGeom prst="rect">
            <a:avLst/>
          </a:prstGeom>
          <a:solidFill>
            <a:srgbClr val="FFFFFF"/>
          </a:solidFill>
          <a:ln w="12700">
            <a:solidFill>
              <a:srgbClr val="D5DCE5"/>
            </a:solidFill>
            <a:prstDash val="solid"/>
          </a:ln>
        </p:spPr>
        <p:txBody>
          <a:bodyPr/>
          <a:lstStyle/>
          <a:p>
            <a:endParaRPr lang="en-US"/>
          </a:p>
        </p:txBody>
      </p:sp>
      <p:sp>
        <p:nvSpPr>
          <p:cNvPr id="16" name="Shape 14"/>
          <p:cNvSpPr/>
          <p:nvPr/>
        </p:nvSpPr>
        <p:spPr>
          <a:xfrm>
            <a:off x="4663440" y="1280160"/>
            <a:ext cx="4023360" cy="411480"/>
          </a:xfrm>
          <a:prstGeom prst="rect">
            <a:avLst/>
          </a:prstGeom>
          <a:solidFill>
            <a:srgbClr val="C8102E"/>
          </a:solidFill>
          <a:ln w="12700">
            <a:solidFill>
              <a:srgbClr val="C8102E"/>
            </a:solidFill>
            <a:prstDash val="solid"/>
          </a:ln>
        </p:spPr>
        <p:txBody>
          <a:bodyPr/>
          <a:lstStyle/>
          <a:p>
            <a:endParaRPr lang="en-US"/>
          </a:p>
        </p:txBody>
      </p:sp>
      <p:sp>
        <p:nvSpPr>
          <p:cNvPr id="17" name="Text 15"/>
          <p:cNvSpPr/>
          <p:nvPr/>
        </p:nvSpPr>
        <p:spPr>
          <a:xfrm>
            <a:off x="4846320" y="1280160"/>
            <a:ext cx="3657600" cy="411480"/>
          </a:xfrm>
          <a:prstGeom prst="rect">
            <a:avLst/>
          </a:prstGeom>
          <a:noFill/>
          <a:ln/>
        </p:spPr>
        <p:txBody>
          <a:bodyPr wrap="square" lIns="0" tIns="0" rIns="0" bIns="0" rtlCol="0" anchor="ctr"/>
          <a:lstStyle/>
          <a:p>
            <a:pPr marL="0" indent="0">
              <a:buNone/>
            </a:pPr>
            <a:r>
              <a:rPr lang="en-US" sz="1300" b="1" kern="0" spc="200">
                <a:solidFill>
                  <a:srgbClr val="FFFFFF"/>
                </a:solidFill>
                <a:latin typeface="Calibri" pitchFamily="34" charset="0"/>
                <a:ea typeface="Calibri" pitchFamily="34" charset="-122"/>
                <a:cs typeface="Calibri" pitchFamily="34" charset="-120"/>
              </a:rPr>
              <a:t>✗  RISKS</a:t>
            </a:r>
            <a:endParaRPr lang="en-US" sz="1300"/>
          </a:p>
        </p:txBody>
      </p:sp>
      <p:sp>
        <p:nvSpPr>
          <p:cNvPr id="18" name="Text 16"/>
          <p:cNvSpPr/>
          <p:nvPr/>
        </p:nvSpPr>
        <p:spPr>
          <a:xfrm>
            <a:off x="4846320" y="1874520"/>
            <a:ext cx="3657600" cy="256032"/>
          </a:xfrm>
          <a:prstGeom prst="rect">
            <a:avLst/>
          </a:prstGeom>
          <a:noFill/>
          <a:ln/>
        </p:spPr>
        <p:txBody>
          <a:bodyPr wrap="square" lIns="0" tIns="0" rIns="0" bIns="0" rtlCol="0" anchor="ctr"/>
          <a:lstStyle/>
          <a:p>
            <a:pPr marL="0" indent="0">
              <a:buNone/>
            </a:pPr>
            <a:r>
              <a:rPr lang="en-US" sz="1200" b="1">
                <a:solidFill>
                  <a:srgbClr val="C8102E"/>
                </a:solidFill>
                <a:latin typeface="Calibri" pitchFamily="34" charset="0"/>
                <a:ea typeface="Calibri" pitchFamily="34" charset="-122"/>
                <a:cs typeface="Calibri" pitchFamily="34" charset="-120"/>
              </a:rPr>
              <a:t>Early-stage market</a:t>
            </a:r>
            <a:endParaRPr lang="en-US" sz="1200"/>
          </a:p>
        </p:txBody>
      </p:sp>
      <p:sp>
        <p:nvSpPr>
          <p:cNvPr id="19" name="Text 17"/>
          <p:cNvSpPr/>
          <p:nvPr/>
        </p:nvSpPr>
        <p:spPr>
          <a:xfrm>
            <a:off x="4846320" y="2130552"/>
            <a:ext cx="3657600" cy="384048"/>
          </a:xfrm>
          <a:prstGeom prst="rect">
            <a:avLst/>
          </a:prstGeom>
          <a:noFill/>
          <a:ln/>
        </p:spPr>
        <p:txBody>
          <a:bodyPr wrap="square" lIns="0" tIns="0" rIns="0" bIns="0" rtlCol="0" anchor="ctr"/>
          <a:lstStyle/>
          <a:p>
            <a:pPr marL="0" indent="0">
              <a:buNone/>
            </a:pPr>
            <a:r>
              <a:rPr lang="en-US" sz="1000">
                <a:solidFill>
                  <a:srgbClr val="5A6878"/>
                </a:solidFill>
                <a:latin typeface="Calibri" pitchFamily="34" charset="0"/>
                <a:ea typeface="Calibri" pitchFamily="34" charset="-122"/>
                <a:cs typeface="Calibri" pitchFamily="34" charset="-120"/>
              </a:rPr>
              <a:t>Adoption curve still uncertain; many target customers have never deployed AI screening</a:t>
            </a:r>
            <a:endParaRPr lang="en-US" sz="1000"/>
          </a:p>
        </p:txBody>
      </p:sp>
      <p:sp>
        <p:nvSpPr>
          <p:cNvPr id="20" name="Text 18"/>
          <p:cNvSpPr/>
          <p:nvPr/>
        </p:nvSpPr>
        <p:spPr>
          <a:xfrm>
            <a:off x="4846320" y="2514600"/>
            <a:ext cx="3657600" cy="256032"/>
          </a:xfrm>
          <a:prstGeom prst="rect">
            <a:avLst/>
          </a:prstGeom>
          <a:noFill/>
          <a:ln/>
        </p:spPr>
        <p:txBody>
          <a:bodyPr wrap="square" lIns="0" tIns="0" rIns="0" bIns="0" rtlCol="0" anchor="ctr"/>
          <a:lstStyle/>
          <a:p>
            <a:pPr marL="0" indent="0">
              <a:buNone/>
            </a:pPr>
            <a:r>
              <a:rPr lang="en-US" sz="1200" b="1">
                <a:solidFill>
                  <a:srgbClr val="C8102E"/>
                </a:solidFill>
                <a:latin typeface="Calibri" pitchFamily="34" charset="0"/>
                <a:ea typeface="Calibri" pitchFamily="34" charset="-122"/>
                <a:cs typeface="Calibri" pitchFamily="34" charset="-120"/>
              </a:rPr>
              <a:t>Competitive pressure</a:t>
            </a:r>
            <a:endParaRPr lang="en-US" sz="1200"/>
          </a:p>
        </p:txBody>
      </p:sp>
      <p:sp>
        <p:nvSpPr>
          <p:cNvPr id="21" name="Text 19"/>
          <p:cNvSpPr/>
          <p:nvPr/>
        </p:nvSpPr>
        <p:spPr>
          <a:xfrm>
            <a:off x="4846320" y="2770632"/>
            <a:ext cx="3657600" cy="384048"/>
          </a:xfrm>
          <a:prstGeom prst="rect">
            <a:avLst/>
          </a:prstGeom>
          <a:noFill/>
          <a:ln/>
        </p:spPr>
        <p:txBody>
          <a:bodyPr wrap="square" lIns="0" tIns="0" rIns="0" bIns="0" rtlCol="0" anchor="ctr"/>
          <a:lstStyle/>
          <a:p>
            <a:pPr marL="0" indent="0">
              <a:buNone/>
            </a:pPr>
            <a:r>
              <a:rPr lang="en-US" sz="1000">
                <a:solidFill>
                  <a:srgbClr val="5A6878"/>
                </a:solidFill>
                <a:latin typeface="Calibri" pitchFamily="34" charset="0"/>
                <a:ea typeface="Calibri" pitchFamily="34" charset="-122"/>
                <a:cs typeface="Calibri" pitchFamily="34" charset="-120"/>
              </a:rPr>
              <a:t>Threat from CEIA, Knightscope, and adjacent video-AI companies entering the space</a:t>
            </a:r>
            <a:endParaRPr lang="en-US" sz="1000"/>
          </a:p>
        </p:txBody>
      </p:sp>
      <p:sp>
        <p:nvSpPr>
          <p:cNvPr id="22" name="Text 20"/>
          <p:cNvSpPr/>
          <p:nvPr/>
        </p:nvSpPr>
        <p:spPr>
          <a:xfrm>
            <a:off x="4846320" y="3154680"/>
            <a:ext cx="3657600" cy="256032"/>
          </a:xfrm>
          <a:prstGeom prst="rect">
            <a:avLst/>
          </a:prstGeom>
          <a:noFill/>
          <a:ln/>
        </p:spPr>
        <p:txBody>
          <a:bodyPr wrap="square" lIns="0" tIns="0" rIns="0" bIns="0" rtlCol="0" anchor="ctr"/>
          <a:lstStyle/>
          <a:p>
            <a:pPr marL="0" indent="0">
              <a:buNone/>
            </a:pPr>
            <a:r>
              <a:rPr lang="en-US" sz="1200" b="1">
                <a:solidFill>
                  <a:srgbClr val="C8102E"/>
                </a:solidFill>
                <a:latin typeface="Calibri" pitchFamily="34" charset="0"/>
                <a:ea typeface="Calibri" pitchFamily="34" charset="-122"/>
                <a:cs typeface="Calibri" pitchFamily="34" charset="-120"/>
              </a:rPr>
              <a:t>Execution risk</a:t>
            </a:r>
            <a:endParaRPr lang="en-US" sz="1200"/>
          </a:p>
        </p:txBody>
      </p:sp>
      <p:sp>
        <p:nvSpPr>
          <p:cNvPr id="23" name="Text 21"/>
          <p:cNvSpPr/>
          <p:nvPr/>
        </p:nvSpPr>
        <p:spPr>
          <a:xfrm>
            <a:off x="4846320" y="3410712"/>
            <a:ext cx="3657600" cy="384048"/>
          </a:xfrm>
          <a:prstGeom prst="rect">
            <a:avLst/>
          </a:prstGeom>
          <a:noFill/>
          <a:ln/>
        </p:spPr>
        <p:txBody>
          <a:bodyPr wrap="square" lIns="0" tIns="0" rIns="0" bIns="0" rtlCol="0" anchor="ctr"/>
          <a:lstStyle/>
          <a:p>
            <a:pPr marL="0" indent="0">
              <a:buNone/>
            </a:pPr>
            <a:r>
              <a:rPr lang="en-US" sz="1000">
                <a:solidFill>
                  <a:srgbClr val="5A6878"/>
                </a:solidFill>
                <a:latin typeface="Calibri" pitchFamily="34" charset="0"/>
                <a:ea typeface="Calibri" pitchFamily="34" charset="-122"/>
                <a:cs typeface="Calibri" pitchFamily="34" charset="-120"/>
              </a:rPr>
              <a:t>Company has not yet achieved consistent profitability; operating leverage thesis unproven</a:t>
            </a:r>
            <a:endParaRPr lang="en-US" sz="1000"/>
          </a:p>
        </p:txBody>
      </p:sp>
      <p:sp>
        <p:nvSpPr>
          <p:cNvPr id="24" name="Text 22"/>
          <p:cNvSpPr/>
          <p:nvPr/>
        </p:nvSpPr>
        <p:spPr>
          <a:xfrm>
            <a:off x="4846320" y="3794760"/>
            <a:ext cx="3657600" cy="256032"/>
          </a:xfrm>
          <a:prstGeom prst="rect">
            <a:avLst/>
          </a:prstGeom>
          <a:noFill/>
          <a:ln/>
        </p:spPr>
        <p:txBody>
          <a:bodyPr wrap="square" lIns="0" tIns="0" rIns="0" bIns="0" rtlCol="0" anchor="ctr"/>
          <a:lstStyle/>
          <a:p>
            <a:pPr marL="0" indent="0">
              <a:buNone/>
            </a:pPr>
            <a:r>
              <a:rPr lang="en-US" sz="1200" b="1">
                <a:solidFill>
                  <a:srgbClr val="C8102E"/>
                </a:solidFill>
                <a:latin typeface="Calibri" pitchFamily="34" charset="0"/>
                <a:ea typeface="Calibri" pitchFamily="34" charset="-122"/>
                <a:cs typeface="Calibri" pitchFamily="34" charset="-120"/>
              </a:rPr>
              <a:t>Premium valuation</a:t>
            </a:r>
            <a:endParaRPr lang="en-US" sz="1200"/>
          </a:p>
        </p:txBody>
      </p:sp>
      <p:sp>
        <p:nvSpPr>
          <p:cNvPr id="25" name="Text 23"/>
          <p:cNvSpPr/>
          <p:nvPr/>
        </p:nvSpPr>
        <p:spPr>
          <a:xfrm>
            <a:off x="4846320" y="4050792"/>
            <a:ext cx="3657600" cy="384048"/>
          </a:xfrm>
          <a:prstGeom prst="rect">
            <a:avLst/>
          </a:prstGeom>
          <a:noFill/>
          <a:ln/>
        </p:spPr>
        <p:txBody>
          <a:bodyPr wrap="square" lIns="0" tIns="0" rIns="0" bIns="0" rtlCol="0" anchor="ctr"/>
          <a:lstStyle/>
          <a:p>
            <a:pPr marL="0" indent="0">
              <a:buNone/>
            </a:pPr>
            <a:r>
              <a:rPr lang="en-US" sz="1000">
                <a:solidFill>
                  <a:srgbClr val="5A6878"/>
                </a:solidFill>
                <a:latin typeface="Calibri" pitchFamily="34" charset="0"/>
                <a:ea typeface="Calibri" pitchFamily="34" charset="-122"/>
                <a:cs typeface="Calibri" pitchFamily="34" charset="-120"/>
              </a:rPr>
              <a:t>Trading multiple already prices in significant future growth, leaving little margin of safety</a:t>
            </a:r>
            <a:endParaRPr lang="en-US" sz="1000"/>
          </a:p>
        </p:txBody>
      </p:sp>
      <p:sp>
        <p:nvSpPr>
          <p:cNvPr id="26" name="Text 24"/>
          <p:cNvSpPr/>
          <p:nvPr/>
        </p:nvSpPr>
        <p:spPr>
          <a:xfrm>
            <a:off x="457200" y="4864608"/>
            <a:ext cx="3657600" cy="228600"/>
          </a:xfrm>
          <a:prstGeom prst="rect">
            <a:avLst/>
          </a:prstGeom>
          <a:noFill/>
          <a:ln/>
        </p:spPr>
        <p:txBody>
          <a:bodyPr wrap="square" lIns="0" tIns="0" rIns="0" bIns="0" rtlCol="0" anchor="ctr"/>
          <a:lstStyle/>
          <a:p>
            <a:pPr marL="0" indent="0" algn="l">
              <a:buNone/>
            </a:pPr>
            <a:r>
              <a:rPr lang="en-US" sz="900">
                <a:solidFill>
                  <a:srgbClr val="5A6878"/>
                </a:solidFill>
                <a:latin typeface="Calibri" pitchFamily="34" charset="0"/>
                <a:ea typeface="Calibri" pitchFamily="34" charset="-122"/>
                <a:cs typeface="Calibri" pitchFamily="34" charset="-120"/>
              </a:rPr>
              <a:t>EVLV  |  M&amp;A Valuation</a:t>
            </a:r>
            <a:endParaRPr lang="en-US" sz="900"/>
          </a:p>
        </p:txBody>
      </p:sp>
      <p:sp>
        <p:nvSpPr>
          <p:cNvPr id="27" name="Text 25"/>
          <p:cNvSpPr/>
          <p:nvPr/>
        </p:nvSpPr>
        <p:spPr>
          <a:xfrm>
            <a:off x="8412480" y="4864608"/>
            <a:ext cx="548640" cy="228600"/>
          </a:xfrm>
          <a:prstGeom prst="rect">
            <a:avLst/>
          </a:prstGeom>
          <a:noFill/>
          <a:ln/>
        </p:spPr>
        <p:txBody>
          <a:bodyPr wrap="square" lIns="0" tIns="0" rIns="0" bIns="0" rtlCol="0" anchor="ctr"/>
          <a:lstStyle/>
          <a:p>
            <a:pPr marL="0" indent="0" algn="r">
              <a:buNone/>
            </a:pPr>
            <a:r>
              <a:rPr lang="en-US" sz="900">
                <a:solidFill>
                  <a:srgbClr val="5A6878"/>
                </a:solidFill>
                <a:latin typeface="Calibri" pitchFamily="34" charset="0"/>
                <a:ea typeface="Calibri" pitchFamily="34" charset="-122"/>
                <a:cs typeface="Calibri" pitchFamily="34" charset="-120"/>
              </a:rPr>
              <a:t>5 / 10</a:t>
            </a:r>
            <a:endParaRPr lang="en-US" sz="9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502920"/>
          </a:xfrm>
          <a:prstGeom prst="rect">
            <a:avLst/>
          </a:prstGeom>
          <a:noFill/>
          <a:ln/>
        </p:spPr>
        <p:txBody>
          <a:bodyPr wrap="square" lIns="0" tIns="0" rIns="0" bIns="0" rtlCol="0" anchor="ctr"/>
          <a:lstStyle/>
          <a:p>
            <a:pPr marL="0" indent="0">
              <a:buNone/>
            </a:pPr>
            <a:r>
              <a:rPr lang="en-US" sz="2600" b="1">
                <a:solidFill>
                  <a:srgbClr val="0F2A4F"/>
                </a:solidFill>
                <a:latin typeface="Georgia" pitchFamily="34" charset="0"/>
                <a:ea typeface="Georgia" pitchFamily="34" charset="-122"/>
                <a:cs typeface="Georgia" pitchFamily="34" charset="-120"/>
              </a:rPr>
              <a:t>Forecast Assumptions</a:t>
            </a:r>
            <a:endParaRPr lang="en-US" sz="2600"/>
          </a:p>
        </p:txBody>
      </p:sp>
      <p:sp>
        <p:nvSpPr>
          <p:cNvPr id="3" name="Text 1"/>
          <p:cNvSpPr/>
          <p:nvPr/>
        </p:nvSpPr>
        <p:spPr>
          <a:xfrm>
            <a:off x="457200" y="841248"/>
            <a:ext cx="8229600" cy="274320"/>
          </a:xfrm>
          <a:prstGeom prst="rect">
            <a:avLst/>
          </a:prstGeom>
          <a:noFill/>
          <a:ln/>
        </p:spPr>
        <p:txBody>
          <a:bodyPr wrap="square" lIns="0" tIns="0" rIns="0" bIns="0" rtlCol="0" anchor="ctr"/>
          <a:lstStyle/>
          <a:p>
            <a:pPr marL="0" indent="0">
              <a:buNone/>
            </a:pPr>
            <a:r>
              <a:rPr lang="en-US" sz="1300" i="1">
                <a:solidFill>
                  <a:srgbClr val="5A6878"/>
                </a:solidFill>
                <a:latin typeface="Calibri" pitchFamily="34" charset="0"/>
                <a:ea typeface="Calibri" pitchFamily="34" charset="-122"/>
                <a:cs typeface="Calibri" pitchFamily="34" charset="-120"/>
              </a:rPr>
              <a:t>10-year DCF projection from FY2026 to FY2035</a:t>
            </a:r>
            <a:endParaRPr lang="en-US" sz="1300"/>
          </a:p>
        </p:txBody>
      </p:sp>
      <p:sp>
        <p:nvSpPr>
          <p:cNvPr id="4" name="Text 2"/>
          <p:cNvSpPr/>
          <p:nvPr/>
        </p:nvSpPr>
        <p:spPr>
          <a:xfrm>
            <a:off x="457200" y="1280160"/>
            <a:ext cx="3657600" cy="320040"/>
          </a:xfrm>
          <a:prstGeom prst="rect">
            <a:avLst/>
          </a:prstGeom>
          <a:noFill/>
          <a:ln/>
        </p:spPr>
        <p:txBody>
          <a:bodyPr wrap="square" lIns="0" tIns="0" rIns="0" bIns="0" rtlCol="0" anchor="ctr"/>
          <a:lstStyle/>
          <a:p>
            <a:pPr marL="0" indent="0">
              <a:buNone/>
            </a:pPr>
            <a:r>
              <a:rPr lang="en-US" sz="1400" b="1">
                <a:solidFill>
                  <a:srgbClr val="0F2A4F"/>
                </a:solidFill>
                <a:latin typeface="Georgia" pitchFamily="34" charset="0"/>
                <a:ea typeface="Georgia" pitchFamily="34" charset="-122"/>
                <a:cs typeface="Georgia" pitchFamily="34" charset="-120"/>
              </a:rPr>
              <a:t>Key Drivers</a:t>
            </a:r>
            <a:endParaRPr lang="en-US" sz="1400"/>
          </a:p>
        </p:txBody>
      </p:sp>
      <p:sp>
        <p:nvSpPr>
          <p:cNvPr id="5" name="Text 3"/>
          <p:cNvSpPr/>
          <p:nvPr/>
        </p:nvSpPr>
        <p:spPr>
          <a:xfrm>
            <a:off x="457199" y="2624874"/>
            <a:ext cx="4354643" cy="1901405"/>
          </a:xfrm>
          <a:prstGeom prst="rect">
            <a:avLst/>
          </a:prstGeom>
          <a:noFill/>
          <a:ln/>
        </p:spPr>
        <p:txBody>
          <a:bodyPr wrap="square" lIns="0" tIns="0" rIns="0" bIns="0" rtlCol="0" anchor="ctr"/>
          <a:lstStyle/>
          <a:p>
            <a:pPr marL="0" indent="0">
              <a:buNone/>
            </a:pPr>
            <a:r>
              <a:rPr lang="en-US" sz="1200" b="1">
                <a:solidFill>
                  <a:srgbClr val="0F2A4F"/>
                </a:solidFill>
                <a:latin typeface="Calibri" pitchFamily="34" charset="0"/>
                <a:ea typeface="Calibri" pitchFamily="34" charset="-122"/>
                <a:cs typeface="Calibri" pitchFamily="34" charset="-120"/>
              </a:rPr>
              <a:t>Revenue Growth</a:t>
            </a:r>
            <a:endParaRPr lang="en-US" sz="1200"/>
          </a:p>
          <a:p>
            <a:pPr marL="0" indent="0">
              <a:buNone/>
            </a:pPr>
            <a:r>
              <a:rPr lang="en-US" sz="1100">
                <a:solidFill>
                  <a:srgbClr val="1A1A1A"/>
                </a:solidFill>
                <a:latin typeface="Calibri" pitchFamily="34" charset="0"/>
                <a:ea typeface="Calibri" pitchFamily="34" charset="-122"/>
                <a:cs typeface="Calibri" pitchFamily="34" charset="-120"/>
              </a:rPr>
              <a:t>40% in 2026 fading to 3% by 2035; total revenue reaches about $509M</a:t>
            </a:r>
            <a:endParaRPr lang="en-US" sz="1200"/>
          </a:p>
          <a:p>
            <a:pPr marL="0" indent="0">
              <a:buNone/>
            </a:pPr>
            <a:r>
              <a:rPr lang="en-US" sz="600">
                <a:solidFill>
                  <a:srgbClr val="000000"/>
                </a:solidFill>
                <a:latin typeface="Calibri" pitchFamily="34" charset="0"/>
                <a:ea typeface="Calibri" pitchFamily="34" charset="-122"/>
                <a:cs typeface="Calibri" pitchFamily="34" charset="-120"/>
              </a:rPr>
              <a:t> </a:t>
            </a:r>
            <a:endParaRPr lang="en-US" sz="1200"/>
          </a:p>
          <a:p>
            <a:pPr marL="0" indent="0">
              <a:buNone/>
            </a:pPr>
            <a:r>
              <a:rPr lang="en-US" sz="1200" b="1">
                <a:solidFill>
                  <a:srgbClr val="0F2A4F"/>
                </a:solidFill>
                <a:latin typeface="Calibri" pitchFamily="34" charset="0"/>
                <a:ea typeface="Calibri" pitchFamily="34" charset="-122"/>
                <a:cs typeface="Calibri" pitchFamily="34" charset="-120"/>
              </a:rPr>
              <a:t>Gross Margin Expansion</a:t>
            </a:r>
            <a:endParaRPr lang="en-US" sz="1200"/>
          </a:p>
          <a:p>
            <a:pPr marL="0" indent="0">
              <a:buNone/>
            </a:pPr>
            <a:r>
              <a:rPr lang="en-US" sz="1100">
                <a:solidFill>
                  <a:srgbClr val="1A1A1A"/>
                </a:solidFill>
                <a:latin typeface="Calibri" pitchFamily="34" charset="0"/>
                <a:ea typeface="Calibri" pitchFamily="34" charset="-122"/>
                <a:cs typeface="Calibri" pitchFamily="34" charset="-120"/>
              </a:rPr>
              <a:t>53% → 60% as subscription mix grows and hardware costs deleverage</a:t>
            </a:r>
            <a:endParaRPr lang="en-US" sz="1200"/>
          </a:p>
          <a:p>
            <a:pPr marL="0" indent="0">
              <a:buNone/>
            </a:pPr>
            <a:r>
              <a:rPr lang="en-US" sz="600">
                <a:solidFill>
                  <a:srgbClr val="000000"/>
                </a:solidFill>
                <a:latin typeface="Calibri" pitchFamily="34" charset="0"/>
                <a:ea typeface="Calibri" pitchFamily="34" charset="-122"/>
                <a:cs typeface="Calibri" pitchFamily="34" charset="-120"/>
              </a:rPr>
              <a:t> </a:t>
            </a:r>
            <a:endParaRPr lang="en-US" sz="1200"/>
          </a:p>
          <a:p>
            <a:pPr marL="0" indent="0">
              <a:buNone/>
            </a:pPr>
            <a:r>
              <a:rPr lang="en-US" sz="1200" b="1">
                <a:solidFill>
                  <a:srgbClr val="0F2A4F"/>
                </a:solidFill>
                <a:latin typeface="Calibri" pitchFamily="34" charset="0"/>
                <a:ea typeface="Calibri" pitchFamily="34" charset="-122"/>
                <a:cs typeface="Calibri" pitchFamily="34" charset="-120"/>
              </a:rPr>
              <a:t>Operating Leverage</a:t>
            </a:r>
            <a:endParaRPr lang="en-US" sz="1200"/>
          </a:p>
          <a:p>
            <a:pPr marL="0" indent="0">
              <a:buNone/>
            </a:pPr>
            <a:r>
              <a:rPr lang="en-US" sz="1100">
                <a:solidFill>
                  <a:srgbClr val="1A1A1A"/>
                </a:solidFill>
                <a:latin typeface="Calibri" pitchFamily="34" charset="0"/>
                <a:ea typeface="Calibri" pitchFamily="34" charset="-122"/>
                <a:cs typeface="Calibri" pitchFamily="34" charset="-120"/>
              </a:rPr>
              <a:t>S,G&amp;A drops from 60% to 27% of revenue as fixed costs spread</a:t>
            </a:r>
            <a:endParaRPr lang="en-US" sz="1200"/>
          </a:p>
          <a:p>
            <a:pPr marL="0" indent="0">
              <a:buNone/>
            </a:pPr>
            <a:r>
              <a:rPr lang="en-US" sz="600">
                <a:solidFill>
                  <a:srgbClr val="000000"/>
                </a:solidFill>
                <a:latin typeface="Calibri" pitchFamily="34" charset="0"/>
                <a:ea typeface="Calibri" pitchFamily="34" charset="-122"/>
                <a:cs typeface="Calibri" pitchFamily="34" charset="-120"/>
              </a:rPr>
              <a:t> </a:t>
            </a:r>
            <a:endParaRPr lang="en-US" sz="1200"/>
          </a:p>
          <a:p>
            <a:pPr marL="0" indent="0">
              <a:buNone/>
            </a:pPr>
            <a:r>
              <a:rPr lang="en-US" sz="1200" b="1">
                <a:solidFill>
                  <a:srgbClr val="0F2A4F"/>
                </a:solidFill>
                <a:latin typeface="Calibri" pitchFamily="34" charset="0"/>
                <a:ea typeface="Calibri" pitchFamily="34" charset="-122"/>
                <a:cs typeface="Calibri" pitchFamily="34" charset="-120"/>
              </a:rPr>
              <a:t>Tax Shield (NOLs)</a:t>
            </a:r>
            <a:endParaRPr lang="en-US" sz="1200"/>
          </a:p>
          <a:p>
            <a:pPr marL="0" indent="0">
              <a:buNone/>
            </a:pPr>
            <a:r>
              <a:rPr lang="en-US" sz="1100" i="1">
                <a:solidFill>
                  <a:srgbClr val="1A1A1A"/>
                </a:solidFill>
                <a:latin typeface="Calibri" pitchFamily="34" charset="0"/>
                <a:ea typeface="Calibri" pitchFamily="34" charset="-122"/>
                <a:cs typeface="Calibri" pitchFamily="34" charset="-120"/>
              </a:rPr>
              <a:t>$348.9M in NOL carryforwards = no federal tax until 2034</a:t>
            </a:r>
            <a:endParaRPr lang="en-US" sz="1200"/>
          </a:p>
        </p:txBody>
      </p:sp>
      <p:sp>
        <p:nvSpPr>
          <p:cNvPr id="8" name="Text 6"/>
          <p:cNvSpPr/>
          <p:nvPr/>
        </p:nvSpPr>
        <p:spPr>
          <a:xfrm>
            <a:off x="457200" y="4864608"/>
            <a:ext cx="3657600" cy="228600"/>
          </a:xfrm>
          <a:prstGeom prst="rect">
            <a:avLst/>
          </a:prstGeom>
          <a:noFill/>
          <a:ln/>
        </p:spPr>
        <p:txBody>
          <a:bodyPr wrap="square" lIns="0" tIns="0" rIns="0" bIns="0" rtlCol="0" anchor="ctr"/>
          <a:lstStyle/>
          <a:p>
            <a:pPr marL="0" indent="0" algn="l">
              <a:buNone/>
            </a:pPr>
            <a:r>
              <a:rPr lang="en-US" sz="900">
                <a:solidFill>
                  <a:srgbClr val="5A6878"/>
                </a:solidFill>
                <a:latin typeface="Calibri" pitchFamily="34" charset="0"/>
                <a:ea typeface="Calibri" pitchFamily="34" charset="-122"/>
                <a:cs typeface="Calibri" pitchFamily="34" charset="-120"/>
              </a:rPr>
              <a:t>EVLV  |  M&amp;A Valuation</a:t>
            </a:r>
            <a:endParaRPr lang="en-US" sz="900"/>
          </a:p>
        </p:txBody>
      </p:sp>
      <p:sp>
        <p:nvSpPr>
          <p:cNvPr id="9" name="Text 7"/>
          <p:cNvSpPr/>
          <p:nvPr/>
        </p:nvSpPr>
        <p:spPr>
          <a:xfrm>
            <a:off x="8412480" y="4864608"/>
            <a:ext cx="548640" cy="228600"/>
          </a:xfrm>
          <a:prstGeom prst="rect">
            <a:avLst/>
          </a:prstGeom>
          <a:noFill/>
          <a:ln/>
        </p:spPr>
        <p:txBody>
          <a:bodyPr wrap="square" lIns="0" tIns="0" rIns="0" bIns="0" rtlCol="0" anchor="ctr"/>
          <a:lstStyle/>
          <a:p>
            <a:pPr marL="0" indent="0" algn="r">
              <a:buNone/>
            </a:pPr>
            <a:r>
              <a:rPr lang="en-US" sz="900">
                <a:solidFill>
                  <a:srgbClr val="5A6878"/>
                </a:solidFill>
                <a:latin typeface="Calibri" pitchFamily="34" charset="0"/>
                <a:ea typeface="Calibri" pitchFamily="34" charset="-122"/>
                <a:cs typeface="Calibri" pitchFamily="34" charset="-120"/>
              </a:rPr>
              <a:t>6 / 10</a:t>
            </a:r>
            <a:endParaRPr lang="en-US" sz="900"/>
          </a:p>
        </p:txBody>
      </p:sp>
      <p:pic>
        <p:nvPicPr>
          <p:cNvPr id="11" name="Picture 10">
            <a:extLst>
              <a:ext uri="{FF2B5EF4-FFF2-40B4-BE49-F238E27FC236}">
                <a16:creationId xmlns:a16="http://schemas.microsoft.com/office/drawing/2014/main" id="{B0CF0D6F-BE9E-5B0B-3AE4-3D0B9A0F87DE}"/>
              </a:ext>
            </a:extLst>
          </p:cNvPr>
          <p:cNvPicPr>
            <a:picLocks noChangeAspect="1"/>
          </p:cNvPicPr>
          <p:nvPr/>
        </p:nvPicPr>
        <p:blipFill>
          <a:blip r:embed="rId3"/>
          <a:stretch>
            <a:fillRect/>
          </a:stretch>
        </p:blipFill>
        <p:spPr>
          <a:xfrm>
            <a:off x="397239" y="1658403"/>
            <a:ext cx="7772400" cy="96647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502920"/>
          </a:xfrm>
          <a:prstGeom prst="rect">
            <a:avLst/>
          </a:prstGeom>
          <a:noFill/>
          <a:ln/>
        </p:spPr>
        <p:txBody>
          <a:bodyPr wrap="square" lIns="0" tIns="0" rIns="0" bIns="0" rtlCol="0" anchor="ctr"/>
          <a:lstStyle/>
          <a:p>
            <a:pPr marL="0" indent="0">
              <a:buNone/>
            </a:pPr>
            <a:r>
              <a:rPr lang="en-US" sz="2600" b="1">
                <a:solidFill>
                  <a:srgbClr val="0F2A4F"/>
                </a:solidFill>
                <a:latin typeface="Georgia" pitchFamily="34" charset="0"/>
                <a:ea typeface="Georgia" pitchFamily="34" charset="-122"/>
                <a:cs typeface="Georgia" pitchFamily="34" charset="-120"/>
              </a:rPr>
              <a:t>WACC &amp; Cost of Capital</a:t>
            </a:r>
            <a:endParaRPr lang="en-US" sz="2600"/>
          </a:p>
        </p:txBody>
      </p:sp>
      <p:sp>
        <p:nvSpPr>
          <p:cNvPr id="3" name="Text 1"/>
          <p:cNvSpPr/>
          <p:nvPr/>
        </p:nvSpPr>
        <p:spPr>
          <a:xfrm>
            <a:off x="457200" y="841248"/>
            <a:ext cx="8229600" cy="274320"/>
          </a:xfrm>
          <a:prstGeom prst="rect">
            <a:avLst/>
          </a:prstGeom>
          <a:noFill/>
          <a:ln/>
        </p:spPr>
        <p:txBody>
          <a:bodyPr wrap="square" lIns="0" tIns="0" rIns="0" bIns="0" rtlCol="0" anchor="ctr"/>
          <a:lstStyle/>
          <a:p>
            <a:pPr marL="0" indent="0">
              <a:buNone/>
            </a:pPr>
            <a:r>
              <a:rPr lang="en-US" sz="1300" i="1">
                <a:solidFill>
                  <a:srgbClr val="5A6878"/>
                </a:solidFill>
                <a:latin typeface="Calibri" pitchFamily="34" charset="0"/>
                <a:ea typeface="Calibri" pitchFamily="34" charset="-122"/>
                <a:cs typeface="Calibri" pitchFamily="34" charset="-120"/>
              </a:rPr>
              <a:t>Capital structure is ~98% equity — cost of equity dominates the WACC</a:t>
            </a:r>
            <a:endParaRPr lang="en-US" sz="1300"/>
          </a:p>
        </p:txBody>
      </p:sp>
      <p:sp>
        <p:nvSpPr>
          <p:cNvPr id="4" name="Text 2"/>
          <p:cNvSpPr/>
          <p:nvPr/>
        </p:nvSpPr>
        <p:spPr>
          <a:xfrm>
            <a:off x="457200" y="1280160"/>
            <a:ext cx="3840480" cy="320040"/>
          </a:xfrm>
          <a:prstGeom prst="rect">
            <a:avLst/>
          </a:prstGeom>
          <a:noFill/>
          <a:ln/>
        </p:spPr>
        <p:txBody>
          <a:bodyPr wrap="square" lIns="0" tIns="0" rIns="0" bIns="0" rtlCol="0" anchor="ctr"/>
          <a:lstStyle/>
          <a:p>
            <a:pPr marL="0" indent="0">
              <a:buNone/>
            </a:pPr>
            <a:r>
              <a:rPr lang="en-US" sz="1400" b="1">
                <a:solidFill>
                  <a:srgbClr val="0F2A4F"/>
                </a:solidFill>
                <a:latin typeface="Georgia" pitchFamily="34" charset="0"/>
                <a:ea typeface="Georgia" pitchFamily="34" charset="-122"/>
                <a:cs typeface="Georgia" pitchFamily="34" charset="-120"/>
              </a:rPr>
              <a:t>Cost of Equity (CAPM)</a:t>
            </a:r>
            <a:endParaRPr lang="en-US" sz="1400"/>
          </a:p>
        </p:txBody>
      </p:sp>
      <p:sp>
        <p:nvSpPr>
          <p:cNvPr id="5" name="Shape 3"/>
          <p:cNvSpPr/>
          <p:nvPr/>
        </p:nvSpPr>
        <p:spPr>
          <a:xfrm>
            <a:off x="457200" y="1691640"/>
            <a:ext cx="3840480" cy="347472"/>
          </a:xfrm>
          <a:prstGeom prst="rect">
            <a:avLst/>
          </a:prstGeom>
          <a:solidFill>
            <a:srgbClr val="FFFFFF"/>
          </a:solidFill>
          <a:ln w="12700">
            <a:solidFill>
              <a:srgbClr val="D5DCE5"/>
            </a:solidFill>
            <a:prstDash val="solid"/>
          </a:ln>
        </p:spPr>
        <p:txBody>
          <a:bodyPr/>
          <a:lstStyle/>
          <a:p>
            <a:endParaRPr lang="en-US"/>
          </a:p>
        </p:txBody>
      </p:sp>
      <p:sp>
        <p:nvSpPr>
          <p:cNvPr id="6" name="Text 4"/>
          <p:cNvSpPr/>
          <p:nvPr/>
        </p:nvSpPr>
        <p:spPr>
          <a:xfrm>
            <a:off x="594360" y="1691640"/>
            <a:ext cx="2377440" cy="347472"/>
          </a:xfrm>
          <a:prstGeom prst="rect">
            <a:avLst/>
          </a:prstGeom>
          <a:noFill/>
          <a:ln/>
        </p:spPr>
        <p:txBody>
          <a:bodyPr wrap="square" lIns="0" tIns="0" rIns="0" bIns="0" rtlCol="0" anchor="ctr"/>
          <a:lstStyle/>
          <a:p>
            <a:pPr marL="0" indent="0">
              <a:buNone/>
            </a:pPr>
            <a:r>
              <a:rPr lang="en-US" sz="1100">
                <a:solidFill>
                  <a:srgbClr val="1A1A1A"/>
                </a:solidFill>
                <a:latin typeface="Calibri" pitchFamily="34" charset="0"/>
                <a:ea typeface="Calibri" pitchFamily="34" charset="-122"/>
                <a:cs typeface="Calibri" pitchFamily="34" charset="-120"/>
              </a:rPr>
              <a:t>Risk-Free Rate (Rf)</a:t>
            </a:r>
            <a:endParaRPr lang="en-US" sz="1100"/>
          </a:p>
        </p:txBody>
      </p:sp>
      <p:sp>
        <p:nvSpPr>
          <p:cNvPr id="7" name="Text 5"/>
          <p:cNvSpPr/>
          <p:nvPr/>
        </p:nvSpPr>
        <p:spPr>
          <a:xfrm>
            <a:off x="2971800" y="1691640"/>
            <a:ext cx="1188720" cy="347472"/>
          </a:xfrm>
          <a:prstGeom prst="rect">
            <a:avLst/>
          </a:prstGeom>
          <a:noFill/>
          <a:ln/>
        </p:spPr>
        <p:txBody>
          <a:bodyPr wrap="square" lIns="0" tIns="0" rIns="0" bIns="0" rtlCol="0" anchor="ctr"/>
          <a:lstStyle/>
          <a:p>
            <a:pPr marL="0" indent="0" algn="r">
              <a:buNone/>
            </a:pPr>
            <a:r>
              <a:rPr lang="en-US" sz="1200" b="1">
                <a:solidFill>
                  <a:srgbClr val="0F2A4F"/>
                </a:solidFill>
                <a:latin typeface="Calibri" pitchFamily="34" charset="0"/>
                <a:ea typeface="Calibri" pitchFamily="34" charset="-122"/>
                <a:cs typeface="Calibri" pitchFamily="34" charset="-120"/>
              </a:rPr>
              <a:t>4.42%</a:t>
            </a:r>
            <a:endParaRPr lang="en-US" sz="1200"/>
          </a:p>
        </p:txBody>
      </p:sp>
      <p:sp>
        <p:nvSpPr>
          <p:cNvPr id="8" name="Shape 6"/>
          <p:cNvSpPr/>
          <p:nvPr/>
        </p:nvSpPr>
        <p:spPr>
          <a:xfrm>
            <a:off x="457200" y="2075688"/>
            <a:ext cx="3840480" cy="347472"/>
          </a:xfrm>
          <a:prstGeom prst="rect">
            <a:avLst/>
          </a:prstGeom>
          <a:solidFill>
            <a:srgbClr val="FFFFFF"/>
          </a:solidFill>
          <a:ln w="12700">
            <a:solidFill>
              <a:srgbClr val="D5DCE5"/>
            </a:solidFill>
            <a:prstDash val="solid"/>
          </a:ln>
        </p:spPr>
        <p:txBody>
          <a:bodyPr/>
          <a:lstStyle/>
          <a:p>
            <a:endParaRPr lang="en-US"/>
          </a:p>
        </p:txBody>
      </p:sp>
      <p:sp>
        <p:nvSpPr>
          <p:cNvPr id="9" name="Text 7"/>
          <p:cNvSpPr/>
          <p:nvPr/>
        </p:nvSpPr>
        <p:spPr>
          <a:xfrm>
            <a:off x="594360" y="2075688"/>
            <a:ext cx="2377440" cy="347472"/>
          </a:xfrm>
          <a:prstGeom prst="rect">
            <a:avLst/>
          </a:prstGeom>
          <a:noFill/>
          <a:ln/>
        </p:spPr>
        <p:txBody>
          <a:bodyPr wrap="square" lIns="0" tIns="0" rIns="0" bIns="0" rtlCol="0" anchor="ctr"/>
          <a:lstStyle/>
          <a:p>
            <a:pPr marL="0" indent="0">
              <a:buNone/>
            </a:pPr>
            <a:r>
              <a:rPr lang="en-US" sz="1100">
                <a:solidFill>
                  <a:srgbClr val="1A1A1A"/>
                </a:solidFill>
                <a:latin typeface="Calibri" pitchFamily="34" charset="0"/>
                <a:ea typeface="Calibri" pitchFamily="34" charset="-122"/>
                <a:cs typeface="Calibri" pitchFamily="34" charset="-120"/>
              </a:rPr>
              <a:t>+ Beta (β)</a:t>
            </a:r>
            <a:endParaRPr lang="en-US" sz="1100"/>
          </a:p>
        </p:txBody>
      </p:sp>
      <p:sp>
        <p:nvSpPr>
          <p:cNvPr id="10" name="Text 8"/>
          <p:cNvSpPr/>
          <p:nvPr/>
        </p:nvSpPr>
        <p:spPr>
          <a:xfrm>
            <a:off x="2971800" y="2075688"/>
            <a:ext cx="1188720" cy="347472"/>
          </a:xfrm>
          <a:prstGeom prst="rect">
            <a:avLst/>
          </a:prstGeom>
          <a:noFill/>
          <a:ln/>
        </p:spPr>
        <p:txBody>
          <a:bodyPr wrap="square" lIns="0" tIns="0" rIns="0" bIns="0" rtlCol="0" anchor="ctr"/>
          <a:lstStyle/>
          <a:p>
            <a:pPr marL="0" indent="0" algn="r">
              <a:buNone/>
            </a:pPr>
            <a:r>
              <a:rPr lang="en-US" sz="1200" b="1">
                <a:solidFill>
                  <a:srgbClr val="0F2A4F"/>
                </a:solidFill>
                <a:latin typeface="Calibri" pitchFamily="34" charset="0"/>
                <a:ea typeface="Calibri" pitchFamily="34" charset="-122"/>
                <a:cs typeface="Calibri" pitchFamily="34" charset="-120"/>
              </a:rPr>
              <a:t>1.78</a:t>
            </a:r>
            <a:endParaRPr lang="en-US" sz="1200"/>
          </a:p>
        </p:txBody>
      </p:sp>
      <p:sp>
        <p:nvSpPr>
          <p:cNvPr id="11" name="Shape 9"/>
          <p:cNvSpPr/>
          <p:nvPr/>
        </p:nvSpPr>
        <p:spPr>
          <a:xfrm>
            <a:off x="457200" y="2459736"/>
            <a:ext cx="3840480" cy="347472"/>
          </a:xfrm>
          <a:prstGeom prst="rect">
            <a:avLst/>
          </a:prstGeom>
          <a:solidFill>
            <a:srgbClr val="FFFFFF"/>
          </a:solidFill>
          <a:ln w="12700">
            <a:solidFill>
              <a:srgbClr val="D5DCE5"/>
            </a:solidFill>
            <a:prstDash val="solid"/>
          </a:ln>
        </p:spPr>
        <p:txBody>
          <a:bodyPr/>
          <a:lstStyle/>
          <a:p>
            <a:endParaRPr lang="en-US"/>
          </a:p>
        </p:txBody>
      </p:sp>
      <p:sp>
        <p:nvSpPr>
          <p:cNvPr id="12" name="Text 10"/>
          <p:cNvSpPr/>
          <p:nvPr/>
        </p:nvSpPr>
        <p:spPr>
          <a:xfrm>
            <a:off x="594360" y="2459736"/>
            <a:ext cx="2377440" cy="347472"/>
          </a:xfrm>
          <a:prstGeom prst="rect">
            <a:avLst/>
          </a:prstGeom>
          <a:noFill/>
          <a:ln/>
        </p:spPr>
        <p:txBody>
          <a:bodyPr wrap="square" lIns="0" tIns="0" rIns="0" bIns="0" rtlCol="0" anchor="ctr"/>
          <a:lstStyle/>
          <a:p>
            <a:pPr marL="0" indent="0">
              <a:buNone/>
            </a:pPr>
            <a:r>
              <a:rPr lang="en-US" sz="1100">
                <a:solidFill>
                  <a:srgbClr val="1A1A1A"/>
                </a:solidFill>
                <a:latin typeface="Calibri" pitchFamily="34" charset="0"/>
                <a:ea typeface="Calibri" pitchFamily="34" charset="-122"/>
                <a:cs typeface="Calibri" pitchFamily="34" charset="-120"/>
              </a:rPr>
              <a:t>× Equity Risk Premium</a:t>
            </a:r>
            <a:endParaRPr lang="en-US" sz="1100"/>
          </a:p>
        </p:txBody>
      </p:sp>
      <p:sp>
        <p:nvSpPr>
          <p:cNvPr id="13" name="Text 11"/>
          <p:cNvSpPr/>
          <p:nvPr/>
        </p:nvSpPr>
        <p:spPr>
          <a:xfrm>
            <a:off x="2971800" y="2459736"/>
            <a:ext cx="1188720" cy="347472"/>
          </a:xfrm>
          <a:prstGeom prst="rect">
            <a:avLst/>
          </a:prstGeom>
          <a:noFill/>
          <a:ln/>
        </p:spPr>
        <p:txBody>
          <a:bodyPr wrap="square" lIns="0" tIns="0" rIns="0" bIns="0" rtlCol="0" anchor="ctr"/>
          <a:lstStyle/>
          <a:p>
            <a:pPr marL="0" indent="0" algn="r">
              <a:buNone/>
            </a:pPr>
            <a:r>
              <a:rPr lang="en-US" sz="1200" b="1">
                <a:solidFill>
                  <a:srgbClr val="0F2A4F"/>
                </a:solidFill>
                <a:latin typeface="Calibri" pitchFamily="34" charset="0"/>
                <a:ea typeface="Calibri" pitchFamily="34" charset="-122"/>
                <a:cs typeface="Calibri" pitchFamily="34" charset="-120"/>
              </a:rPr>
              <a:t>5.58%</a:t>
            </a:r>
            <a:endParaRPr lang="en-US" sz="1200"/>
          </a:p>
        </p:txBody>
      </p:sp>
      <p:sp>
        <p:nvSpPr>
          <p:cNvPr id="14" name="Shape 12"/>
          <p:cNvSpPr/>
          <p:nvPr/>
        </p:nvSpPr>
        <p:spPr>
          <a:xfrm>
            <a:off x="457200" y="2843784"/>
            <a:ext cx="3840480" cy="347472"/>
          </a:xfrm>
          <a:prstGeom prst="rect">
            <a:avLst/>
          </a:prstGeom>
          <a:solidFill>
            <a:srgbClr val="0F2A4F"/>
          </a:solidFill>
          <a:ln w="12700">
            <a:solidFill>
              <a:srgbClr val="D5DCE5"/>
            </a:solidFill>
            <a:prstDash val="solid"/>
          </a:ln>
        </p:spPr>
        <p:txBody>
          <a:bodyPr/>
          <a:lstStyle/>
          <a:p>
            <a:endParaRPr lang="en-US"/>
          </a:p>
        </p:txBody>
      </p:sp>
      <p:sp>
        <p:nvSpPr>
          <p:cNvPr id="15" name="Text 13"/>
          <p:cNvSpPr/>
          <p:nvPr/>
        </p:nvSpPr>
        <p:spPr>
          <a:xfrm>
            <a:off x="594360" y="2843784"/>
            <a:ext cx="2377440" cy="347472"/>
          </a:xfrm>
          <a:prstGeom prst="rect">
            <a:avLst/>
          </a:prstGeom>
          <a:noFill/>
          <a:ln/>
        </p:spPr>
        <p:txBody>
          <a:bodyPr wrap="square" lIns="0" tIns="0" rIns="0" bIns="0" rtlCol="0" anchor="ctr"/>
          <a:lstStyle/>
          <a:p>
            <a:pPr marL="0" indent="0">
              <a:buNone/>
            </a:pPr>
            <a:r>
              <a:rPr lang="en-US" sz="1100" b="1">
                <a:solidFill>
                  <a:srgbClr val="FFFFFF"/>
                </a:solidFill>
                <a:latin typeface="Calibri" pitchFamily="34" charset="0"/>
                <a:ea typeface="Calibri" pitchFamily="34" charset="-122"/>
                <a:cs typeface="Calibri" pitchFamily="34" charset="-120"/>
              </a:rPr>
              <a:t>= Cost of Equity</a:t>
            </a:r>
            <a:endParaRPr lang="en-US" sz="1100"/>
          </a:p>
        </p:txBody>
      </p:sp>
      <p:sp>
        <p:nvSpPr>
          <p:cNvPr id="16" name="Text 14"/>
          <p:cNvSpPr/>
          <p:nvPr/>
        </p:nvSpPr>
        <p:spPr>
          <a:xfrm>
            <a:off x="2971800" y="2843784"/>
            <a:ext cx="1188720" cy="347472"/>
          </a:xfrm>
          <a:prstGeom prst="rect">
            <a:avLst/>
          </a:prstGeom>
          <a:noFill/>
          <a:ln/>
        </p:spPr>
        <p:txBody>
          <a:bodyPr wrap="square" lIns="0" tIns="0" rIns="0" bIns="0" rtlCol="0" anchor="ctr"/>
          <a:lstStyle/>
          <a:p>
            <a:pPr marL="0" indent="0" algn="r">
              <a:buNone/>
            </a:pPr>
            <a:r>
              <a:rPr lang="en-US" sz="1200" b="1">
                <a:solidFill>
                  <a:srgbClr val="C9A547"/>
                </a:solidFill>
                <a:latin typeface="Calibri" pitchFamily="34" charset="0"/>
                <a:ea typeface="Calibri" pitchFamily="34" charset="-122"/>
                <a:cs typeface="Calibri" pitchFamily="34" charset="-120"/>
              </a:rPr>
              <a:t>14.35%</a:t>
            </a:r>
            <a:endParaRPr lang="en-US" sz="1200"/>
          </a:p>
        </p:txBody>
      </p:sp>
      <p:sp>
        <p:nvSpPr>
          <p:cNvPr id="17" name="Text 15"/>
          <p:cNvSpPr/>
          <p:nvPr/>
        </p:nvSpPr>
        <p:spPr>
          <a:xfrm>
            <a:off x="457200" y="3429000"/>
            <a:ext cx="3840480" cy="274320"/>
          </a:xfrm>
          <a:prstGeom prst="rect">
            <a:avLst/>
          </a:prstGeom>
          <a:noFill/>
          <a:ln/>
        </p:spPr>
        <p:txBody>
          <a:bodyPr wrap="square" lIns="0" tIns="0" rIns="0" bIns="0" rtlCol="0" anchor="ctr"/>
          <a:lstStyle/>
          <a:p>
            <a:pPr marL="0" indent="0">
              <a:buNone/>
            </a:pPr>
            <a:r>
              <a:rPr lang="en-US" sz="1300" b="1">
                <a:solidFill>
                  <a:srgbClr val="0F2A4F"/>
                </a:solidFill>
                <a:latin typeface="Georgia" pitchFamily="34" charset="0"/>
                <a:ea typeface="Georgia" pitchFamily="34" charset="-122"/>
                <a:cs typeface="Georgia" pitchFamily="34" charset="-120"/>
              </a:rPr>
              <a:t>Capital Structure</a:t>
            </a:r>
            <a:endParaRPr lang="en-US" sz="1300"/>
          </a:p>
        </p:txBody>
      </p:sp>
      <p:sp>
        <p:nvSpPr>
          <p:cNvPr id="18" name="Shape 16"/>
          <p:cNvSpPr/>
          <p:nvPr/>
        </p:nvSpPr>
        <p:spPr>
          <a:xfrm>
            <a:off x="457200" y="3749040"/>
            <a:ext cx="3513125" cy="320040"/>
          </a:xfrm>
          <a:prstGeom prst="rect">
            <a:avLst/>
          </a:prstGeom>
          <a:solidFill>
            <a:srgbClr val="2B5A8C"/>
          </a:solidFill>
          <a:ln w="12700">
            <a:solidFill>
              <a:srgbClr val="2B5A8C"/>
            </a:solidFill>
            <a:prstDash val="solid"/>
          </a:ln>
        </p:spPr>
        <p:txBody>
          <a:bodyPr/>
          <a:lstStyle/>
          <a:p>
            <a:endParaRPr lang="en-US"/>
          </a:p>
        </p:txBody>
      </p:sp>
      <p:sp>
        <p:nvSpPr>
          <p:cNvPr id="19" name="Text 17"/>
          <p:cNvSpPr/>
          <p:nvPr/>
        </p:nvSpPr>
        <p:spPr>
          <a:xfrm>
            <a:off x="502920" y="3749040"/>
            <a:ext cx="3657600" cy="320040"/>
          </a:xfrm>
          <a:prstGeom prst="rect">
            <a:avLst/>
          </a:prstGeom>
          <a:noFill/>
          <a:ln/>
        </p:spPr>
        <p:txBody>
          <a:bodyPr wrap="square" lIns="0" tIns="0" rIns="0" bIns="0" rtlCol="0" anchor="ctr"/>
          <a:lstStyle/>
          <a:p>
            <a:pPr marL="0" indent="0">
              <a:buNone/>
            </a:pPr>
            <a:r>
              <a:rPr lang="en-US" sz="1100" b="1">
                <a:solidFill>
                  <a:srgbClr val="FFFFFF"/>
                </a:solidFill>
                <a:latin typeface="Calibri" pitchFamily="34" charset="0"/>
                <a:ea typeface="Calibri" pitchFamily="34" charset="-122"/>
                <a:cs typeface="Calibri" pitchFamily="34" charset="-120"/>
              </a:rPr>
              <a:t>Equity 98%</a:t>
            </a:r>
            <a:endParaRPr lang="en-US" sz="1100"/>
          </a:p>
        </p:txBody>
      </p:sp>
      <p:sp>
        <p:nvSpPr>
          <p:cNvPr id="20" name="Shape 18"/>
          <p:cNvSpPr/>
          <p:nvPr/>
        </p:nvSpPr>
        <p:spPr>
          <a:xfrm>
            <a:off x="3970325" y="3749040"/>
            <a:ext cx="71323" cy="320040"/>
          </a:xfrm>
          <a:prstGeom prst="rect">
            <a:avLst/>
          </a:prstGeom>
          <a:solidFill>
            <a:srgbClr val="C8102E"/>
          </a:solidFill>
          <a:ln w="12700">
            <a:solidFill>
              <a:srgbClr val="C8102E"/>
            </a:solidFill>
            <a:prstDash val="solid"/>
          </a:ln>
        </p:spPr>
        <p:txBody>
          <a:bodyPr/>
          <a:lstStyle/>
          <a:p>
            <a:endParaRPr lang="en-US"/>
          </a:p>
        </p:txBody>
      </p:sp>
      <p:sp>
        <p:nvSpPr>
          <p:cNvPr id="21" name="Text 19"/>
          <p:cNvSpPr/>
          <p:nvPr/>
        </p:nvSpPr>
        <p:spPr>
          <a:xfrm>
            <a:off x="3703320" y="4069080"/>
            <a:ext cx="640080" cy="201168"/>
          </a:xfrm>
          <a:prstGeom prst="rect">
            <a:avLst/>
          </a:prstGeom>
          <a:noFill/>
          <a:ln/>
        </p:spPr>
        <p:txBody>
          <a:bodyPr wrap="square" lIns="0" tIns="0" rIns="0" bIns="0" rtlCol="0" anchor="ctr"/>
          <a:lstStyle/>
          <a:p>
            <a:pPr marL="0" indent="0">
              <a:buNone/>
            </a:pPr>
            <a:r>
              <a:rPr lang="en-US" sz="850" i="1">
                <a:solidFill>
                  <a:srgbClr val="C8102E"/>
                </a:solidFill>
                <a:latin typeface="Calibri" pitchFamily="34" charset="0"/>
                <a:ea typeface="Calibri" pitchFamily="34" charset="-122"/>
                <a:cs typeface="Calibri" pitchFamily="34" charset="-120"/>
              </a:rPr>
              <a:t>Debt 2%</a:t>
            </a:r>
            <a:endParaRPr lang="en-US" sz="850"/>
          </a:p>
        </p:txBody>
      </p:sp>
      <p:sp>
        <p:nvSpPr>
          <p:cNvPr id="22" name="Text 20"/>
          <p:cNvSpPr/>
          <p:nvPr/>
        </p:nvSpPr>
        <p:spPr>
          <a:xfrm>
            <a:off x="457200" y="4114800"/>
            <a:ext cx="4114800" cy="274320"/>
          </a:xfrm>
          <a:prstGeom prst="rect">
            <a:avLst/>
          </a:prstGeom>
          <a:noFill/>
          <a:ln/>
        </p:spPr>
        <p:txBody>
          <a:bodyPr wrap="square" lIns="0" tIns="0" rIns="0" bIns="0" rtlCol="0" anchor="ctr"/>
          <a:lstStyle/>
          <a:p>
            <a:pPr marL="0" indent="0">
              <a:buNone/>
            </a:pPr>
            <a:r>
              <a:rPr lang="en-US" sz="1000">
                <a:solidFill>
                  <a:srgbClr val="5A6878"/>
                </a:solidFill>
                <a:latin typeface="Calibri" pitchFamily="34" charset="0"/>
                <a:ea typeface="Calibri" pitchFamily="34" charset="-122"/>
                <a:cs typeface="Calibri" pitchFamily="34" charset="-120"/>
              </a:rPr>
              <a:t>Total Equity: </a:t>
            </a:r>
            <a:r>
              <a:rPr lang="en-US" sz="1000" b="1">
                <a:solidFill>
                  <a:srgbClr val="1A1A1A"/>
                </a:solidFill>
                <a:latin typeface="Calibri" pitchFamily="34" charset="0"/>
                <a:ea typeface="Calibri" pitchFamily="34" charset="-122"/>
                <a:cs typeface="Calibri" pitchFamily="34" charset="-120"/>
              </a:rPr>
              <a:t>$1.26B</a:t>
            </a:r>
            <a:r>
              <a:rPr lang="en-US" sz="1000">
                <a:solidFill>
                  <a:srgbClr val="5A6878"/>
                </a:solidFill>
                <a:latin typeface="Calibri" pitchFamily="34" charset="0"/>
                <a:ea typeface="Calibri" pitchFamily="34" charset="-122"/>
                <a:cs typeface="Calibri" pitchFamily="34" charset="-120"/>
              </a:rPr>
              <a:t>    Total Debt: </a:t>
            </a:r>
            <a:r>
              <a:rPr lang="en-US" sz="1000" b="1">
                <a:solidFill>
                  <a:srgbClr val="1A1A1A"/>
                </a:solidFill>
                <a:latin typeface="Calibri" pitchFamily="34" charset="0"/>
                <a:ea typeface="Calibri" pitchFamily="34" charset="-122"/>
                <a:cs typeface="Calibri" pitchFamily="34" charset="-120"/>
              </a:rPr>
              <a:t>$28.5M</a:t>
            </a:r>
            <a:r>
              <a:rPr lang="en-US" sz="1000">
                <a:solidFill>
                  <a:srgbClr val="5A6878"/>
                </a:solidFill>
                <a:latin typeface="Calibri" pitchFamily="34" charset="0"/>
                <a:ea typeface="Calibri" pitchFamily="34" charset="-122"/>
                <a:cs typeface="Calibri" pitchFamily="34" charset="-120"/>
              </a:rPr>
              <a:t>    After-tax Kd: </a:t>
            </a:r>
            <a:r>
              <a:rPr lang="en-US" sz="1000" b="1">
                <a:solidFill>
                  <a:srgbClr val="1A1A1A"/>
                </a:solidFill>
                <a:latin typeface="Calibri" pitchFamily="34" charset="0"/>
                <a:ea typeface="Calibri" pitchFamily="34" charset="-122"/>
                <a:cs typeface="Calibri" pitchFamily="34" charset="-120"/>
              </a:rPr>
              <a:t>1.58%</a:t>
            </a:r>
            <a:endParaRPr lang="en-US" sz="1000"/>
          </a:p>
        </p:txBody>
      </p:sp>
      <p:sp>
        <p:nvSpPr>
          <p:cNvPr id="23" name="Shape 21"/>
          <p:cNvSpPr/>
          <p:nvPr/>
        </p:nvSpPr>
        <p:spPr>
          <a:xfrm>
            <a:off x="457200" y="4498848"/>
            <a:ext cx="3840480" cy="320040"/>
          </a:xfrm>
          <a:prstGeom prst="rect">
            <a:avLst/>
          </a:prstGeom>
          <a:solidFill>
            <a:srgbClr val="C9A547"/>
          </a:solidFill>
          <a:ln w="12700">
            <a:solidFill>
              <a:srgbClr val="C9A547"/>
            </a:solidFill>
            <a:prstDash val="solid"/>
          </a:ln>
        </p:spPr>
        <p:txBody>
          <a:bodyPr/>
          <a:lstStyle/>
          <a:p>
            <a:endParaRPr lang="en-US"/>
          </a:p>
        </p:txBody>
      </p:sp>
      <p:sp>
        <p:nvSpPr>
          <p:cNvPr id="24" name="Text 22"/>
          <p:cNvSpPr/>
          <p:nvPr/>
        </p:nvSpPr>
        <p:spPr>
          <a:xfrm>
            <a:off x="457200" y="4498848"/>
            <a:ext cx="3840480" cy="320040"/>
          </a:xfrm>
          <a:prstGeom prst="rect">
            <a:avLst/>
          </a:prstGeom>
          <a:noFill/>
          <a:ln/>
        </p:spPr>
        <p:txBody>
          <a:bodyPr wrap="square" lIns="0" tIns="0" rIns="0" bIns="0" rtlCol="0" anchor="ctr"/>
          <a:lstStyle/>
          <a:p>
            <a:pPr marL="0" indent="0" algn="ctr">
              <a:buNone/>
            </a:pPr>
            <a:r>
              <a:rPr lang="en-US" sz="1200" b="1">
                <a:solidFill>
                  <a:srgbClr val="0F2A4F"/>
                </a:solidFill>
                <a:latin typeface="Calibri" pitchFamily="34" charset="0"/>
                <a:ea typeface="Calibri" pitchFamily="34" charset="-122"/>
                <a:cs typeface="Calibri" pitchFamily="34" charset="-120"/>
              </a:rPr>
              <a:t>WACC = </a:t>
            </a:r>
            <a:r>
              <a:rPr lang="en-US" sz="1400" b="1">
                <a:solidFill>
                  <a:srgbClr val="0F2A4F"/>
                </a:solidFill>
                <a:latin typeface="Calibri" pitchFamily="34" charset="0"/>
                <a:ea typeface="Calibri" pitchFamily="34" charset="-122"/>
                <a:cs typeface="Calibri" pitchFamily="34" charset="-120"/>
              </a:rPr>
              <a:t>14.07%</a:t>
            </a:r>
            <a:endParaRPr lang="en-US" sz="1200"/>
          </a:p>
        </p:txBody>
      </p:sp>
      <p:sp>
        <p:nvSpPr>
          <p:cNvPr id="25" name="Shape 23"/>
          <p:cNvSpPr/>
          <p:nvPr/>
        </p:nvSpPr>
        <p:spPr>
          <a:xfrm>
            <a:off x="4389120" y="1285240"/>
            <a:ext cx="4251960" cy="3520440"/>
          </a:xfrm>
          <a:prstGeom prst="rect">
            <a:avLst/>
          </a:prstGeom>
          <a:solidFill>
            <a:srgbClr val="EEF2F7"/>
          </a:solidFill>
          <a:ln w="15875">
            <a:solidFill>
              <a:srgbClr val="AAB6C4"/>
            </a:solidFill>
            <a:prstDash val="dash"/>
          </a:ln>
        </p:spPr>
        <p:txBody>
          <a:bodyPr/>
          <a:lstStyle/>
          <a:p>
            <a:endParaRPr lang="en-US"/>
          </a:p>
        </p:txBody>
      </p:sp>
      <p:sp>
        <p:nvSpPr>
          <p:cNvPr id="27" name="Text 25"/>
          <p:cNvSpPr/>
          <p:nvPr/>
        </p:nvSpPr>
        <p:spPr>
          <a:xfrm>
            <a:off x="457200" y="4864608"/>
            <a:ext cx="3657600" cy="228600"/>
          </a:xfrm>
          <a:prstGeom prst="rect">
            <a:avLst/>
          </a:prstGeom>
          <a:noFill/>
          <a:ln/>
        </p:spPr>
        <p:txBody>
          <a:bodyPr wrap="square" lIns="0" tIns="0" rIns="0" bIns="0" rtlCol="0" anchor="ctr"/>
          <a:lstStyle/>
          <a:p>
            <a:pPr marL="0" indent="0" algn="l">
              <a:buNone/>
            </a:pPr>
            <a:r>
              <a:rPr lang="en-US" sz="900">
                <a:solidFill>
                  <a:srgbClr val="5A6878"/>
                </a:solidFill>
                <a:latin typeface="Calibri" pitchFamily="34" charset="0"/>
                <a:ea typeface="Calibri" pitchFamily="34" charset="-122"/>
                <a:cs typeface="Calibri" pitchFamily="34" charset="-120"/>
              </a:rPr>
              <a:t>EVLV  |  M&amp;A Valuation</a:t>
            </a:r>
            <a:endParaRPr lang="en-US" sz="900"/>
          </a:p>
        </p:txBody>
      </p:sp>
      <p:sp>
        <p:nvSpPr>
          <p:cNvPr id="28" name="Text 26"/>
          <p:cNvSpPr/>
          <p:nvPr/>
        </p:nvSpPr>
        <p:spPr>
          <a:xfrm>
            <a:off x="8412480" y="4864608"/>
            <a:ext cx="548640" cy="228600"/>
          </a:xfrm>
          <a:prstGeom prst="rect">
            <a:avLst/>
          </a:prstGeom>
          <a:noFill/>
          <a:ln/>
        </p:spPr>
        <p:txBody>
          <a:bodyPr wrap="square" lIns="0" tIns="0" rIns="0" bIns="0" rtlCol="0" anchor="ctr"/>
          <a:lstStyle/>
          <a:p>
            <a:pPr marL="0" indent="0" algn="r">
              <a:buNone/>
            </a:pPr>
            <a:r>
              <a:rPr lang="en-US" sz="900">
                <a:solidFill>
                  <a:srgbClr val="5A6878"/>
                </a:solidFill>
                <a:latin typeface="Calibri" pitchFamily="34" charset="0"/>
                <a:ea typeface="Calibri" pitchFamily="34" charset="-122"/>
                <a:cs typeface="Calibri" pitchFamily="34" charset="-120"/>
              </a:rPr>
              <a:t>7 / 10</a:t>
            </a:r>
            <a:endParaRPr lang="en-US" sz="900"/>
          </a:p>
        </p:txBody>
      </p:sp>
      <p:pic>
        <p:nvPicPr>
          <p:cNvPr id="30" name="Picture 29">
            <a:extLst>
              <a:ext uri="{FF2B5EF4-FFF2-40B4-BE49-F238E27FC236}">
                <a16:creationId xmlns:a16="http://schemas.microsoft.com/office/drawing/2014/main" id="{CFDA5033-448C-B504-8DB7-F83BB10140FE}"/>
              </a:ext>
            </a:extLst>
          </p:cNvPr>
          <p:cNvPicPr>
            <a:picLocks noChangeAspect="1"/>
          </p:cNvPicPr>
          <p:nvPr/>
        </p:nvPicPr>
        <p:blipFill>
          <a:blip r:embed="rId3"/>
          <a:stretch>
            <a:fillRect/>
          </a:stretch>
        </p:blipFill>
        <p:spPr>
          <a:xfrm>
            <a:off x="4389120" y="1280160"/>
            <a:ext cx="4255770" cy="35255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502920"/>
          </a:xfrm>
          <a:prstGeom prst="rect">
            <a:avLst/>
          </a:prstGeom>
          <a:noFill/>
          <a:ln/>
        </p:spPr>
        <p:txBody>
          <a:bodyPr wrap="square" lIns="0" tIns="0" rIns="0" bIns="0" rtlCol="0" anchor="ctr"/>
          <a:lstStyle/>
          <a:p>
            <a:pPr marL="0" indent="0">
              <a:buNone/>
            </a:pPr>
            <a:r>
              <a:rPr lang="en-US" sz="2600" b="1">
                <a:solidFill>
                  <a:srgbClr val="0F2A4F"/>
                </a:solidFill>
                <a:latin typeface="Georgia" pitchFamily="34" charset="0"/>
                <a:ea typeface="Georgia" pitchFamily="34" charset="-122"/>
                <a:cs typeface="Georgia" pitchFamily="34" charset="-120"/>
              </a:rPr>
              <a:t>DCF Output &amp; Intrinsic Value</a:t>
            </a:r>
            <a:endParaRPr lang="en-US" sz="2600"/>
          </a:p>
        </p:txBody>
      </p:sp>
      <p:sp>
        <p:nvSpPr>
          <p:cNvPr id="3" name="Text 1"/>
          <p:cNvSpPr/>
          <p:nvPr/>
        </p:nvSpPr>
        <p:spPr>
          <a:xfrm>
            <a:off x="457200" y="841248"/>
            <a:ext cx="8229600" cy="274320"/>
          </a:xfrm>
          <a:prstGeom prst="rect">
            <a:avLst/>
          </a:prstGeom>
          <a:noFill/>
          <a:ln/>
        </p:spPr>
        <p:txBody>
          <a:bodyPr wrap="square" lIns="0" tIns="0" rIns="0" bIns="0" rtlCol="0" anchor="ctr"/>
          <a:lstStyle/>
          <a:p>
            <a:pPr marL="0" indent="0">
              <a:buNone/>
            </a:pPr>
            <a:r>
              <a:rPr lang="en-US" sz="1300" i="1">
                <a:solidFill>
                  <a:srgbClr val="5A6878"/>
                </a:solidFill>
                <a:latin typeface="Calibri" pitchFamily="34" charset="0"/>
                <a:ea typeface="Calibri" pitchFamily="34" charset="-122"/>
                <a:cs typeface="Calibri" pitchFamily="34" charset="-120"/>
              </a:rPr>
              <a:t>From discounted cash flows to per-share intrinsic value</a:t>
            </a:r>
            <a:endParaRPr lang="en-US" sz="1300"/>
          </a:p>
        </p:txBody>
      </p:sp>
      <p:sp>
        <p:nvSpPr>
          <p:cNvPr id="4" name="Text 2"/>
          <p:cNvSpPr/>
          <p:nvPr/>
        </p:nvSpPr>
        <p:spPr>
          <a:xfrm>
            <a:off x="457200" y="1280160"/>
            <a:ext cx="4023360" cy="320040"/>
          </a:xfrm>
          <a:prstGeom prst="rect">
            <a:avLst/>
          </a:prstGeom>
          <a:noFill/>
          <a:ln/>
        </p:spPr>
        <p:txBody>
          <a:bodyPr wrap="square" lIns="0" tIns="0" rIns="0" bIns="0" rtlCol="0" anchor="ctr"/>
          <a:lstStyle/>
          <a:p>
            <a:pPr marL="0" indent="0">
              <a:buNone/>
            </a:pPr>
            <a:r>
              <a:rPr lang="en-US" sz="1400" b="1">
                <a:solidFill>
                  <a:srgbClr val="0F2A4F"/>
                </a:solidFill>
                <a:latin typeface="Georgia" pitchFamily="34" charset="0"/>
                <a:ea typeface="Georgia" pitchFamily="34" charset="-122"/>
                <a:cs typeface="Georgia" pitchFamily="34" charset="-120"/>
              </a:rPr>
              <a:t>Valuation Bridge</a:t>
            </a:r>
            <a:endParaRPr lang="en-US" sz="1400"/>
          </a:p>
        </p:txBody>
      </p:sp>
      <p:sp>
        <p:nvSpPr>
          <p:cNvPr id="5" name="Shape 3"/>
          <p:cNvSpPr/>
          <p:nvPr/>
        </p:nvSpPr>
        <p:spPr>
          <a:xfrm>
            <a:off x="457200" y="1691640"/>
            <a:ext cx="4023360" cy="365760"/>
          </a:xfrm>
          <a:prstGeom prst="rect">
            <a:avLst/>
          </a:prstGeom>
          <a:solidFill>
            <a:srgbClr val="FFFFFF"/>
          </a:solidFill>
          <a:ln w="12700">
            <a:solidFill>
              <a:srgbClr val="D5DCE5"/>
            </a:solidFill>
            <a:prstDash val="solid"/>
          </a:ln>
        </p:spPr>
        <p:txBody>
          <a:bodyPr/>
          <a:lstStyle/>
          <a:p>
            <a:endParaRPr lang="en-US"/>
          </a:p>
        </p:txBody>
      </p:sp>
      <p:sp>
        <p:nvSpPr>
          <p:cNvPr id="6" name="Shape 4"/>
          <p:cNvSpPr/>
          <p:nvPr/>
        </p:nvSpPr>
        <p:spPr>
          <a:xfrm>
            <a:off x="457200" y="1691640"/>
            <a:ext cx="54864" cy="365760"/>
          </a:xfrm>
          <a:prstGeom prst="rect">
            <a:avLst/>
          </a:prstGeom>
          <a:solidFill>
            <a:srgbClr val="0F2A4F"/>
          </a:solidFill>
          <a:ln w="12700">
            <a:solidFill>
              <a:srgbClr val="0F2A4F"/>
            </a:solidFill>
            <a:prstDash val="solid"/>
          </a:ln>
        </p:spPr>
        <p:txBody>
          <a:bodyPr/>
          <a:lstStyle/>
          <a:p>
            <a:endParaRPr lang="en-US"/>
          </a:p>
        </p:txBody>
      </p:sp>
      <p:sp>
        <p:nvSpPr>
          <p:cNvPr id="7" name="Text 5"/>
          <p:cNvSpPr/>
          <p:nvPr/>
        </p:nvSpPr>
        <p:spPr>
          <a:xfrm>
            <a:off x="640080" y="1691640"/>
            <a:ext cx="2468880" cy="365760"/>
          </a:xfrm>
          <a:prstGeom prst="rect">
            <a:avLst/>
          </a:prstGeom>
          <a:noFill/>
          <a:ln/>
        </p:spPr>
        <p:txBody>
          <a:bodyPr wrap="square" lIns="0" tIns="0" rIns="0" bIns="0" rtlCol="0" anchor="ctr"/>
          <a:lstStyle/>
          <a:p>
            <a:pPr marL="0" indent="0">
              <a:buNone/>
            </a:pPr>
            <a:r>
              <a:rPr lang="en-US" sz="1100">
                <a:solidFill>
                  <a:srgbClr val="1A1A1A"/>
                </a:solidFill>
                <a:latin typeface="Calibri" pitchFamily="34" charset="0"/>
                <a:ea typeface="Calibri" pitchFamily="34" charset="-122"/>
                <a:cs typeface="Calibri" pitchFamily="34" charset="-120"/>
              </a:rPr>
              <a:t>PV of Operations (10-yr FCF + TV)</a:t>
            </a:r>
            <a:endParaRPr lang="en-US" sz="1100"/>
          </a:p>
        </p:txBody>
      </p:sp>
      <p:sp>
        <p:nvSpPr>
          <p:cNvPr id="8" name="Text 6"/>
          <p:cNvSpPr/>
          <p:nvPr/>
        </p:nvSpPr>
        <p:spPr>
          <a:xfrm>
            <a:off x="3108960" y="1691640"/>
            <a:ext cx="1280160" cy="365760"/>
          </a:xfrm>
          <a:prstGeom prst="rect">
            <a:avLst/>
          </a:prstGeom>
          <a:noFill/>
          <a:ln/>
        </p:spPr>
        <p:txBody>
          <a:bodyPr wrap="square" lIns="0" tIns="0" rIns="0" bIns="0" rtlCol="0" anchor="ctr"/>
          <a:lstStyle/>
          <a:p>
            <a:pPr marL="0" indent="0" algn="r">
              <a:buNone/>
            </a:pPr>
            <a:r>
              <a:rPr lang="en-US" sz="1200" b="1">
                <a:solidFill>
                  <a:srgbClr val="0F2A4F"/>
                </a:solidFill>
                <a:latin typeface="Calibri" pitchFamily="34" charset="0"/>
                <a:ea typeface="Calibri" pitchFamily="34" charset="-122"/>
                <a:cs typeface="Calibri" pitchFamily="34" charset="-120"/>
              </a:rPr>
              <a:t>$641M</a:t>
            </a:r>
            <a:endParaRPr lang="en-US" sz="1200"/>
          </a:p>
        </p:txBody>
      </p:sp>
      <p:sp>
        <p:nvSpPr>
          <p:cNvPr id="9" name="Shape 7"/>
          <p:cNvSpPr/>
          <p:nvPr/>
        </p:nvSpPr>
        <p:spPr>
          <a:xfrm>
            <a:off x="457200" y="2103120"/>
            <a:ext cx="4023360" cy="365760"/>
          </a:xfrm>
          <a:prstGeom prst="rect">
            <a:avLst/>
          </a:prstGeom>
          <a:solidFill>
            <a:srgbClr val="FFFFFF"/>
          </a:solidFill>
          <a:ln w="12700">
            <a:solidFill>
              <a:srgbClr val="D5DCE5"/>
            </a:solidFill>
            <a:prstDash val="solid"/>
          </a:ln>
        </p:spPr>
        <p:txBody>
          <a:bodyPr/>
          <a:lstStyle/>
          <a:p>
            <a:endParaRPr lang="en-US"/>
          </a:p>
        </p:txBody>
      </p:sp>
      <p:sp>
        <p:nvSpPr>
          <p:cNvPr id="10" name="Shape 8"/>
          <p:cNvSpPr/>
          <p:nvPr/>
        </p:nvSpPr>
        <p:spPr>
          <a:xfrm>
            <a:off x="457200" y="2103120"/>
            <a:ext cx="54864" cy="365760"/>
          </a:xfrm>
          <a:prstGeom prst="rect">
            <a:avLst/>
          </a:prstGeom>
          <a:solidFill>
            <a:srgbClr val="2B5A8C"/>
          </a:solidFill>
          <a:ln w="12700">
            <a:solidFill>
              <a:srgbClr val="2B5A8C"/>
            </a:solidFill>
            <a:prstDash val="solid"/>
          </a:ln>
        </p:spPr>
        <p:txBody>
          <a:bodyPr/>
          <a:lstStyle/>
          <a:p>
            <a:endParaRPr lang="en-US"/>
          </a:p>
        </p:txBody>
      </p:sp>
      <p:sp>
        <p:nvSpPr>
          <p:cNvPr id="11" name="Text 9"/>
          <p:cNvSpPr/>
          <p:nvPr/>
        </p:nvSpPr>
        <p:spPr>
          <a:xfrm>
            <a:off x="640080" y="2103120"/>
            <a:ext cx="2468880" cy="365760"/>
          </a:xfrm>
          <a:prstGeom prst="rect">
            <a:avLst/>
          </a:prstGeom>
          <a:noFill/>
          <a:ln/>
        </p:spPr>
        <p:txBody>
          <a:bodyPr wrap="square" lIns="0" tIns="0" rIns="0" bIns="0" rtlCol="0" anchor="ctr"/>
          <a:lstStyle/>
          <a:p>
            <a:pPr marL="0" indent="0">
              <a:buNone/>
            </a:pPr>
            <a:r>
              <a:rPr lang="en-US" sz="1100">
                <a:solidFill>
                  <a:srgbClr val="1A1A1A"/>
                </a:solidFill>
                <a:latin typeface="Calibri" pitchFamily="34" charset="0"/>
                <a:ea typeface="Calibri" pitchFamily="34" charset="-122"/>
                <a:cs typeface="Calibri" pitchFamily="34" charset="-120"/>
              </a:rPr>
              <a:t>+ Current Assets</a:t>
            </a:r>
            <a:endParaRPr lang="en-US" sz="1100"/>
          </a:p>
        </p:txBody>
      </p:sp>
      <p:sp>
        <p:nvSpPr>
          <p:cNvPr id="12" name="Text 10"/>
          <p:cNvSpPr/>
          <p:nvPr/>
        </p:nvSpPr>
        <p:spPr>
          <a:xfrm>
            <a:off x="3108960" y="2103120"/>
            <a:ext cx="1280160" cy="365760"/>
          </a:xfrm>
          <a:prstGeom prst="rect">
            <a:avLst/>
          </a:prstGeom>
          <a:noFill/>
          <a:ln/>
        </p:spPr>
        <p:txBody>
          <a:bodyPr wrap="square" lIns="0" tIns="0" rIns="0" bIns="0" rtlCol="0" anchor="ctr"/>
          <a:lstStyle/>
          <a:p>
            <a:pPr marL="0" indent="0" algn="r">
              <a:buNone/>
            </a:pPr>
            <a:r>
              <a:rPr lang="en-US" sz="1200" b="1">
                <a:solidFill>
                  <a:srgbClr val="2B5A8C"/>
                </a:solidFill>
                <a:latin typeface="Calibri" pitchFamily="34" charset="0"/>
                <a:ea typeface="Calibri" pitchFamily="34" charset="-122"/>
                <a:cs typeface="Calibri" pitchFamily="34" charset="-120"/>
              </a:rPr>
              <a:t>$151M</a:t>
            </a:r>
            <a:endParaRPr lang="en-US" sz="1200"/>
          </a:p>
        </p:txBody>
      </p:sp>
      <p:sp>
        <p:nvSpPr>
          <p:cNvPr id="13" name="Shape 11"/>
          <p:cNvSpPr/>
          <p:nvPr/>
        </p:nvSpPr>
        <p:spPr>
          <a:xfrm>
            <a:off x="457200" y="2514600"/>
            <a:ext cx="4023360" cy="365760"/>
          </a:xfrm>
          <a:prstGeom prst="rect">
            <a:avLst/>
          </a:prstGeom>
          <a:solidFill>
            <a:srgbClr val="FFFFFF"/>
          </a:solidFill>
          <a:ln w="12700">
            <a:solidFill>
              <a:srgbClr val="D5DCE5"/>
            </a:solidFill>
            <a:prstDash val="solid"/>
          </a:ln>
        </p:spPr>
        <p:txBody>
          <a:bodyPr/>
          <a:lstStyle/>
          <a:p>
            <a:endParaRPr lang="en-US"/>
          </a:p>
        </p:txBody>
      </p:sp>
      <p:sp>
        <p:nvSpPr>
          <p:cNvPr id="14" name="Shape 12"/>
          <p:cNvSpPr/>
          <p:nvPr/>
        </p:nvSpPr>
        <p:spPr>
          <a:xfrm>
            <a:off x="457200" y="2514600"/>
            <a:ext cx="54864" cy="365760"/>
          </a:xfrm>
          <a:prstGeom prst="rect">
            <a:avLst/>
          </a:prstGeom>
          <a:solidFill>
            <a:srgbClr val="2B5A8C"/>
          </a:solidFill>
          <a:ln w="12700">
            <a:solidFill>
              <a:srgbClr val="2B5A8C"/>
            </a:solidFill>
            <a:prstDash val="solid"/>
          </a:ln>
        </p:spPr>
        <p:txBody>
          <a:bodyPr/>
          <a:lstStyle/>
          <a:p>
            <a:endParaRPr lang="en-US"/>
          </a:p>
        </p:txBody>
      </p:sp>
      <p:sp>
        <p:nvSpPr>
          <p:cNvPr id="15" name="Text 13"/>
          <p:cNvSpPr/>
          <p:nvPr/>
        </p:nvSpPr>
        <p:spPr>
          <a:xfrm>
            <a:off x="640080" y="2514600"/>
            <a:ext cx="2468880" cy="365760"/>
          </a:xfrm>
          <a:prstGeom prst="rect">
            <a:avLst/>
          </a:prstGeom>
          <a:noFill/>
          <a:ln/>
        </p:spPr>
        <p:txBody>
          <a:bodyPr wrap="square" lIns="0" tIns="0" rIns="0" bIns="0" rtlCol="0" anchor="ctr"/>
          <a:lstStyle/>
          <a:p>
            <a:pPr marL="0" indent="0">
              <a:buNone/>
            </a:pPr>
            <a:r>
              <a:rPr lang="en-US" sz="1100">
                <a:solidFill>
                  <a:srgbClr val="1A1A1A"/>
                </a:solidFill>
                <a:latin typeface="Calibri" pitchFamily="34" charset="0"/>
                <a:ea typeface="Calibri" pitchFamily="34" charset="-122"/>
                <a:cs typeface="Calibri" pitchFamily="34" charset="-120"/>
              </a:rPr>
              <a:t>− Current Liabilities (BS adj.)</a:t>
            </a:r>
            <a:endParaRPr lang="en-US" sz="1100"/>
          </a:p>
        </p:txBody>
      </p:sp>
      <p:sp>
        <p:nvSpPr>
          <p:cNvPr id="16" name="Text 14"/>
          <p:cNvSpPr/>
          <p:nvPr/>
        </p:nvSpPr>
        <p:spPr>
          <a:xfrm>
            <a:off x="3108960" y="2514600"/>
            <a:ext cx="1280160" cy="365760"/>
          </a:xfrm>
          <a:prstGeom prst="rect">
            <a:avLst/>
          </a:prstGeom>
          <a:noFill/>
          <a:ln/>
        </p:spPr>
        <p:txBody>
          <a:bodyPr wrap="square" lIns="0" tIns="0" rIns="0" bIns="0" rtlCol="0" anchor="ctr"/>
          <a:lstStyle/>
          <a:p>
            <a:pPr marL="0" indent="0" algn="r">
              <a:buNone/>
            </a:pPr>
            <a:r>
              <a:rPr lang="en-US" sz="1200" b="1">
                <a:solidFill>
                  <a:srgbClr val="2B5A8C"/>
                </a:solidFill>
                <a:latin typeface="Calibri" pitchFamily="34" charset="0"/>
                <a:ea typeface="Calibri" pitchFamily="34" charset="-122"/>
                <a:cs typeface="Calibri" pitchFamily="34" charset="-120"/>
              </a:rPr>
              <a:t>($94M)</a:t>
            </a:r>
            <a:endParaRPr lang="en-US" sz="1200"/>
          </a:p>
        </p:txBody>
      </p:sp>
      <p:sp>
        <p:nvSpPr>
          <p:cNvPr id="17" name="Shape 15"/>
          <p:cNvSpPr/>
          <p:nvPr/>
        </p:nvSpPr>
        <p:spPr>
          <a:xfrm>
            <a:off x="457200" y="2926080"/>
            <a:ext cx="4023360" cy="365760"/>
          </a:xfrm>
          <a:prstGeom prst="rect">
            <a:avLst/>
          </a:prstGeom>
          <a:solidFill>
            <a:srgbClr val="FFFFFF"/>
          </a:solidFill>
          <a:ln w="12700">
            <a:solidFill>
              <a:srgbClr val="D5DCE5"/>
            </a:solidFill>
            <a:prstDash val="solid"/>
          </a:ln>
        </p:spPr>
        <p:txBody>
          <a:bodyPr/>
          <a:lstStyle/>
          <a:p>
            <a:endParaRPr lang="en-US"/>
          </a:p>
        </p:txBody>
      </p:sp>
      <p:sp>
        <p:nvSpPr>
          <p:cNvPr id="18" name="Shape 16"/>
          <p:cNvSpPr/>
          <p:nvPr/>
        </p:nvSpPr>
        <p:spPr>
          <a:xfrm>
            <a:off x="457200" y="2926080"/>
            <a:ext cx="54864" cy="365760"/>
          </a:xfrm>
          <a:prstGeom prst="rect">
            <a:avLst/>
          </a:prstGeom>
          <a:solidFill>
            <a:srgbClr val="0F2A4F"/>
          </a:solidFill>
          <a:ln w="12700">
            <a:solidFill>
              <a:srgbClr val="0F2A4F"/>
            </a:solidFill>
            <a:prstDash val="solid"/>
          </a:ln>
        </p:spPr>
        <p:txBody>
          <a:bodyPr/>
          <a:lstStyle/>
          <a:p>
            <a:endParaRPr lang="en-US"/>
          </a:p>
        </p:txBody>
      </p:sp>
      <p:sp>
        <p:nvSpPr>
          <p:cNvPr id="19" name="Text 17"/>
          <p:cNvSpPr/>
          <p:nvPr/>
        </p:nvSpPr>
        <p:spPr>
          <a:xfrm>
            <a:off x="640080" y="2926080"/>
            <a:ext cx="2468880" cy="365760"/>
          </a:xfrm>
          <a:prstGeom prst="rect">
            <a:avLst/>
          </a:prstGeom>
          <a:noFill/>
          <a:ln/>
        </p:spPr>
        <p:txBody>
          <a:bodyPr wrap="square" lIns="0" tIns="0" rIns="0" bIns="0" rtlCol="0" anchor="ctr"/>
          <a:lstStyle/>
          <a:p>
            <a:pPr marL="0" indent="0">
              <a:buNone/>
            </a:pPr>
            <a:r>
              <a:rPr lang="en-US" sz="1100">
                <a:solidFill>
                  <a:srgbClr val="1A1A1A"/>
                </a:solidFill>
                <a:latin typeface="Calibri" pitchFamily="34" charset="0"/>
                <a:ea typeface="Calibri" pitchFamily="34" charset="-122"/>
                <a:cs typeface="Calibri" pitchFamily="34" charset="-120"/>
              </a:rPr>
              <a:t>= Equity Value</a:t>
            </a:r>
            <a:endParaRPr lang="en-US" sz="1100"/>
          </a:p>
        </p:txBody>
      </p:sp>
      <p:sp>
        <p:nvSpPr>
          <p:cNvPr id="20" name="Text 18"/>
          <p:cNvSpPr/>
          <p:nvPr/>
        </p:nvSpPr>
        <p:spPr>
          <a:xfrm>
            <a:off x="3108960" y="2926080"/>
            <a:ext cx="1280160" cy="365760"/>
          </a:xfrm>
          <a:prstGeom prst="rect">
            <a:avLst/>
          </a:prstGeom>
          <a:noFill/>
          <a:ln/>
        </p:spPr>
        <p:txBody>
          <a:bodyPr wrap="square" lIns="0" tIns="0" rIns="0" bIns="0" rtlCol="0" anchor="ctr"/>
          <a:lstStyle/>
          <a:p>
            <a:pPr marL="0" indent="0" algn="r">
              <a:buNone/>
            </a:pPr>
            <a:r>
              <a:rPr lang="en-US" sz="1200" b="1">
                <a:solidFill>
                  <a:srgbClr val="0F2A4F"/>
                </a:solidFill>
                <a:latin typeface="Calibri" pitchFamily="34" charset="0"/>
                <a:ea typeface="Calibri" pitchFamily="34" charset="-122"/>
                <a:cs typeface="Calibri" pitchFamily="34" charset="-120"/>
              </a:rPr>
              <a:t>$698M</a:t>
            </a:r>
            <a:endParaRPr lang="en-US" sz="1200"/>
          </a:p>
        </p:txBody>
      </p:sp>
      <p:sp>
        <p:nvSpPr>
          <p:cNvPr id="21" name="Shape 19"/>
          <p:cNvSpPr/>
          <p:nvPr/>
        </p:nvSpPr>
        <p:spPr>
          <a:xfrm>
            <a:off x="457200" y="3337560"/>
            <a:ext cx="4023360" cy="365760"/>
          </a:xfrm>
          <a:prstGeom prst="rect">
            <a:avLst/>
          </a:prstGeom>
          <a:solidFill>
            <a:srgbClr val="FFFFFF"/>
          </a:solidFill>
          <a:ln w="12700">
            <a:solidFill>
              <a:srgbClr val="D5DCE5"/>
            </a:solidFill>
            <a:prstDash val="solid"/>
          </a:ln>
        </p:spPr>
        <p:txBody>
          <a:bodyPr/>
          <a:lstStyle/>
          <a:p>
            <a:endParaRPr lang="en-US"/>
          </a:p>
        </p:txBody>
      </p:sp>
      <p:sp>
        <p:nvSpPr>
          <p:cNvPr id="22" name="Shape 20"/>
          <p:cNvSpPr/>
          <p:nvPr/>
        </p:nvSpPr>
        <p:spPr>
          <a:xfrm>
            <a:off x="457200" y="3337560"/>
            <a:ext cx="54864" cy="365760"/>
          </a:xfrm>
          <a:prstGeom prst="rect">
            <a:avLst/>
          </a:prstGeom>
          <a:solidFill>
            <a:srgbClr val="5A6878"/>
          </a:solidFill>
          <a:ln w="12700">
            <a:solidFill>
              <a:srgbClr val="5A6878"/>
            </a:solidFill>
            <a:prstDash val="solid"/>
          </a:ln>
        </p:spPr>
        <p:txBody>
          <a:bodyPr/>
          <a:lstStyle/>
          <a:p>
            <a:endParaRPr lang="en-US"/>
          </a:p>
        </p:txBody>
      </p:sp>
      <p:sp>
        <p:nvSpPr>
          <p:cNvPr id="23" name="Text 21"/>
          <p:cNvSpPr/>
          <p:nvPr/>
        </p:nvSpPr>
        <p:spPr>
          <a:xfrm>
            <a:off x="640080" y="3337560"/>
            <a:ext cx="2468880" cy="365760"/>
          </a:xfrm>
          <a:prstGeom prst="rect">
            <a:avLst/>
          </a:prstGeom>
          <a:noFill/>
          <a:ln/>
        </p:spPr>
        <p:txBody>
          <a:bodyPr wrap="square" lIns="0" tIns="0" rIns="0" bIns="0" rtlCol="0" anchor="ctr"/>
          <a:lstStyle/>
          <a:p>
            <a:pPr marL="0" indent="0">
              <a:buNone/>
            </a:pPr>
            <a:r>
              <a:rPr lang="en-US" sz="1100">
                <a:solidFill>
                  <a:srgbClr val="1A1A1A"/>
                </a:solidFill>
                <a:latin typeface="Calibri" pitchFamily="34" charset="0"/>
                <a:ea typeface="Calibri" pitchFamily="34" charset="-122"/>
                <a:cs typeface="Calibri" pitchFamily="34" charset="-120"/>
              </a:rPr>
              <a:t>÷ Shares Outstanding</a:t>
            </a:r>
            <a:endParaRPr lang="en-US" sz="1100"/>
          </a:p>
        </p:txBody>
      </p:sp>
      <p:sp>
        <p:nvSpPr>
          <p:cNvPr id="24" name="Text 22"/>
          <p:cNvSpPr/>
          <p:nvPr/>
        </p:nvSpPr>
        <p:spPr>
          <a:xfrm>
            <a:off x="3108960" y="3337560"/>
            <a:ext cx="1280160" cy="365760"/>
          </a:xfrm>
          <a:prstGeom prst="rect">
            <a:avLst/>
          </a:prstGeom>
          <a:noFill/>
          <a:ln/>
        </p:spPr>
        <p:txBody>
          <a:bodyPr wrap="square" lIns="0" tIns="0" rIns="0" bIns="0" rtlCol="0" anchor="ctr"/>
          <a:lstStyle/>
          <a:p>
            <a:pPr marL="0" indent="0" algn="r">
              <a:buNone/>
            </a:pPr>
            <a:r>
              <a:rPr lang="en-US" sz="1200" b="1">
                <a:solidFill>
                  <a:srgbClr val="5A6878"/>
                </a:solidFill>
                <a:latin typeface="Calibri" pitchFamily="34" charset="0"/>
                <a:ea typeface="Calibri" pitchFamily="34" charset="-122"/>
                <a:cs typeface="Calibri" pitchFamily="34" charset="-120"/>
              </a:rPr>
              <a:t>168.4M</a:t>
            </a:r>
            <a:endParaRPr lang="en-US" sz="1200"/>
          </a:p>
        </p:txBody>
      </p:sp>
      <p:sp>
        <p:nvSpPr>
          <p:cNvPr id="25" name="Shape 23"/>
          <p:cNvSpPr/>
          <p:nvPr/>
        </p:nvSpPr>
        <p:spPr>
          <a:xfrm>
            <a:off x="457200" y="3840480"/>
            <a:ext cx="4023360" cy="777240"/>
          </a:xfrm>
          <a:prstGeom prst="rect">
            <a:avLst/>
          </a:prstGeom>
          <a:solidFill>
            <a:srgbClr val="0F2A4F"/>
          </a:solidFill>
          <a:ln w="12700">
            <a:solidFill>
              <a:srgbClr val="0F2A4F"/>
            </a:solidFill>
            <a:prstDash val="solid"/>
          </a:ln>
        </p:spPr>
        <p:txBody>
          <a:bodyPr/>
          <a:lstStyle/>
          <a:p>
            <a:endParaRPr lang="en-US"/>
          </a:p>
        </p:txBody>
      </p:sp>
      <p:sp>
        <p:nvSpPr>
          <p:cNvPr id="26" name="Text 24"/>
          <p:cNvSpPr/>
          <p:nvPr/>
        </p:nvSpPr>
        <p:spPr>
          <a:xfrm>
            <a:off x="594360" y="3904488"/>
            <a:ext cx="3840480" cy="228600"/>
          </a:xfrm>
          <a:prstGeom prst="rect">
            <a:avLst/>
          </a:prstGeom>
          <a:noFill/>
          <a:ln/>
        </p:spPr>
        <p:txBody>
          <a:bodyPr wrap="square" lIns="0" tIns="0" rIns="0" bIns="0" rtlCol="0" anchor="ctr"/>
          <a:lstStyle/>
          <a:p>
            <a:pPr marL="0" indent="0">
              <a:buNone/>
            </a:pPr>
            <a:r>
              <a:rPr lang="en-US" sz="900" b="1" kern="0" spc="200">
                <a:solidFill>
                  <a:srgbClr val="C9A547"/>
                </a:solidFill>
                <a:latin typeface="Calibri" pitchFamily="34" charset="0"/>
                <a:ea typeface="Calibri" pitchFamily="34" charset="-122"/>
                <a:cs typeface="Calibri" pitchFamily="34" charset="-120"/>
              </a:rPr>
              <a:t>INTRINSIC VALUE / SHARE</a:t>
            </a:r>
            <a:endParaRPr lang="en-US" sz="900"/>
          </a:p>
        </p:txBody>
      </p:sp>
      <p:sp>
        <p:nvSpPr>
          <p:cNvPr id="27" name="Text 25"/>
          <p:cNvSpPr/>
          <p:nvPr/>
        </p:nvSpPr>
        <p:spPr>
          <a:xfrm>
            <a:off x="594360" y="4114800"/>
            <a:ext cx="3840480" cy="457200"/>
          </a:xfrm>
          <a:prstGeom prst="rect">
            <a:avLst/>
          </a:prstGeom>
          <a:noFill/>
          <a:ln/>
        </p:spPr>
        <p:txBody>
          <a:bodyPr wrap="square" lIns="0" tIns="0" rIns="0" bIns="0" rtlCol="0" anchor="ctr"/>
          <a:lstStyle/>
          <a:p>
            <a:pPr marL="0" indent="0">
              <a:buNone/>
            </a:pPr>
            <a:r>
              <a:rPr lang="en-US" sz="2800" b="1">
                <a:solidFill>
                  <a:srgbClr val="FFFFFF"/>
                </a:solidFill>
                <a:latin typeface="Georgia" pitchFamily="34" charset="0"/>
                <a:ea typeface="Georgia" pitchFamily="34" charset="-122"/>
                <a:cs typeface="Georgia" pitchFamily="34" charset="-120"/>
              </a:rPr>
              <a:t>$4.15</a:t>
            </a:r>
            <a:endParaRPr lang="en-US" sz="2800"/>
          </a:p>
        </p:txBody>
      </p:sp>
      <p:sp>
        <p:nvSpPr>
          <p:cNvPr id="28" name="Text 26"/>
          <p:cNvSpPr/>
          <p:nvPr/>
        </p:nvSpPr>
        <p:spPr>
          <a:xfrm>
            <a:off x="2331720" y="4206240"/>
            <a:ext cx="2103120" cy="365760"/>
          </a:xfrm>
          <a:prstGeom prst="rect">
            <a:avLst/>
          </a:prstGeom>
          <a:noFill/>
          <a:ln/>
        </p:spPr>
        <p:txBody>
          <a:bodyPr wrap="square" lIns="0" tIns="0" rIns="0" bIns="0" rtlCol="0" anchor="ctr"/>
          <a:lstStyle/>
          <a:p>
            <a:pPr marL="0" indent="0">
              <a:buNone/>
            </a:pPr>
            <a:r>
              <a:rPr lang="en-US" sz="1200" i="1">
                <a:solidFill>
                  <a:srgbClr val="CADCFC"/>
                </a:solidFill>
                <a:latin typeface="Calibri" pitchFamily="34" charset="0"/>
                <a:ea typeface="Calibri" pitchFamily="34" charset="-122"/>
                <a:cs typeface="Calibri" pitchFamily="34" charset="-120"/>
              </a:rPr>
              <a:t>vs. $7.25 market</a:t>
            </a:r>
            <a:endParaRPr lang="en-US" sz="1200"/>
          </a:p>
        </p:txBody>
      </p:sp>
      <p:sp>
        <p:nvSpPr>
          <p:cNvPr id="29" name="Shape 27"/>
          <p:cNvSpPr/>
          <p:nvPr/>
        </p:nvSpPr>
        <p:spPr>
          <a:xfrm>
            <a:off x="4480560" y="1280160"/>
            <a:ext cx="4206240" cy="3337560"/>
          </a:xfrm>
          <a:prstGeom prst="rect">
            <a:avLst/>
          </a:prstGeom>
          <a:solidFill>
            <a:srgbClr val="EEF2F7"/>
          </a:solidFill>
          <a:ln w="15875">
            <a:solidFill>
              <a:srgbClr val="AAB6C4"/>
            </a:solidFill>
            <a:prstDash val="dash"/>
          </a:ln>
        </p:spPr>
        <p:txBody>
          <a:bodyPr/>
          <a:lstStyle/>
          <a:p>
            <a:endParaRPr lang="en-US"/>
          </a:p>
        </p:txBody>
      </p:sp>
      <p:sp>
        <p:nvSpPr>
          <p:cNvPr id="31" name="Text 29"/>
          <p:cNvSpPr/>
          <p:nvPr/>
        </p:nvSpPr>
        <p:spPr>
          <a:xfrm>
            <a:off x="457200" y="4864608"/>
            <a:ext cx="3657600" cy="228600"/>
          </a:xfrm>
          <a:prstGeom prst="rect">
            <a:avLst/>
          </a:prstGeom>
          <a:noFill/>
          <a:ln/>
        </p:spPr>
        <p:txBody>
          <a:bodyPr wrap="square" lIns="0" tIns="0" rIns="0" bIns="0" rtlCol="0" anchor="ctr"/>
          <a:lstStyle/>
          <a:p>
            <a:pPr marL="0" indent="0" algn="l">
              <a:buNone/>
            </a:pPr>
            <a:r>
              <a:rPr lang="en-US" sz="900">
                <a:solidFill>
                  <a:srgbClr val="5A6878"/>
                </a:solidFill>
                <a:latin typeface="Calibri" pitchFamily="34" charset="0"/>
                <a:ea typeface="Calibri" pitchFamily="34" charset="-122"/>
                <a:cs typeface="Calibri" pitchFamily="34" charset="-120"/>
              </a:rPr>
              <a:t>EVLV  |  M&amp;A Valuation</a:t>
            </a:r>
            <a:endParaRPr lang="en-US" sz="900"/>
          </a:p>
        </p:txBody>
      </p:sp>
      <p:sp>
        <p:nvSpPr>
          <p:cNvPr id="32" name="Text 30"/>
          <p:cNvSpPr/>
          <p:nvPr/>
        </p:nvSpPr>
        <p:spPr>
          <a:xfrm>
            <a:off x="8412480" y="4864608"/>
            <a:ext cx="548640" cy="228600"/>
          </a:xfrm>
          <a:prstGeom prst="rect">
            <a:avLst/>
          </a:prstGeom>
          <a:noFill/>
          <a:ln/>
        </p:spPr>
        <p:txBody>
          <a:bodyPr wrap="square" lIns="0" tIns="0" rIns="0" bIns="0" rtlCol="0" anchor="ctr"/>
          <a:lstStyle/>
          <a:p>
            <a:pPr marL="0" indent="0" algn="r">
              <a:buNone/>
            </a:pPr>
            <a:r>
              <a:rPr lang="en-US" sz="900">
                <a:solidFill>
                  <a:srgbClr val="5A6878"/>
                </a:solidFill>
                <a:latin typeface="Calibri" pitchFamily="34" charset="0"/>
                <a:ea typeface="Calibri" pitchFamily="34" charset="-122"/>
                <a:cs typeface="Calibri" pitchFamily="34" charset="-120"/>
              </a:rPr>
              <a:t>8 / 10</a:t>
            </a:r>
            <a:endParaRPr lang="en-US" sz="900"/>
          </a:p>
        </p:txBody>
      </p:sp>
      <p:pic>
        <p:nvPicPr>
          <p:cNvPr id="34" name="Picture 33">
            <a:extLst>
              <a:ext uri="{FF2B5EF4-FFF2-40B4-BE49-F238E27FC236}">
                <a16:creationId xmlns:a16="http://schemas.microsoft.com/office/drawing/2014/main" id="{846A9A73-CD52-9983-696A-1DDE580BC679}"/>
              </a:ext>
            </a:extLst>
          </p:cNvPr>
          <p:cNvPicPr>
            <a:picLocks noChangeAspect="1"/>
          </p:cNvPicPr>
          <p:nvPr/>
        </p:nvPicPr>
        <p:blipFill>
          <a:blip r:embed="rId3"/>
          <a:stretch>
            <a:fillRect/>
          </a:stretch>
        </p:blipFill>
        <p:spPr>
          <a:xfrm>
            <a:off x="4526280" y="1280160"/>
            <a:ext cx="4160520" cy="333756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2">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502920"/>
          </a:xfrm>
          <a:prstGeom prst="rect">
            <a:avLst/>
          </a:prstGeom>
          <a:noFill/>
          <a:ln/>
        </p:spPr>
        <p:txBody>
          <a:bodyPr wrap="square" lIns="0" tIns="0" rIns="0" bIns="0" rtlCol="0" anchor="ctr"/>
          <a:lstStyle/>
          <a:p>
            <a:pPr marL="0" indent="0">
              <a:buNone/>
            </a:pPr>
            <a:r>
              <a:rPr lang="en-US" sz="2600" b="1">
                <a:solidFill>
                  <a:srgbClr val="0F2A4F"/>
                </a:solidFill>
                <a:latin typeface="Georgia" pitchFamily="34" charset="0"/>
                <a:ea typeface="Georgia" pitchFamily="34" charset="-122"/>
                <a:cs typeface="Georgia" pitchFamily="34" charset="-120"/>
              </a:rPr>
              <a:t>Executive Summary</a:t>
            </a:r>
            <a:endParaRPr lang="en-US" sz="2600"/>
          </a:p>
        </p:txBody>
      </p:sp>
      <p:sp>
        <p:nvSpPr>
          <p:cNvPr id="3" name="Text 1"/>
          <p:cNvSpPr/>
          <p:nvPr/>
        </p:nvSpPr>
        <p:spPr>
          <a:xfrm>
            <a:off x="457200" y="841248"/>
            <a:ext cx="8229600" cy="274320"/>
          </a:xfrm>
          <a:prstGeom prst="rect">
            <a:avLst/>
          </a:prstGeom>
          <a:noFill/>
          <a:ln/>
        </p:spPr>
        <p:txBody>
          <a:bodyPr wrap="square" lIns="0" tIns="0" rIns="0" bIns="0" rtlCol="0" anchor="ctr"/>
          <a:lstStyle/>
          <a:p>
            <a:pPr marL="0" indent="0">
              <a:buNone/>
            </a:pPr>
            <a:r>
              <a:rPr lang="en-US" sz="1300" i="1">
                <a:solidFill>
                  <a:srgbClr val="5A6878"/>
                </a:solidFill>
                <a:latin typeface="Calibri" pitchFamily="34" charset="0"/>
                <a:ea typeface="Calibri" pitchFamily="34" charset="-122"/>
                <a:cs typeface="Calibri" pitchFamily="34" charset="-120"/>
              </a:rPr>
              <a:t>Evolv is overvalued by ~75% relative to our intrinsic value estimate</a:t>
            </a:r>
            <a:endParaRPr lang="en-US" sz="1300"/>
          </a:p>
        </p:txBody>
      </p:sp>
      <p:sp>
        <p:nvSpPr>
          <p:cNvPr id="4" name="Shape 2"/>
          <p:cNvSpPr/>
          <p:nvPr/>
        </p:nvSpPr>
        <p:spPr>
          <a:xfrm>
            <a:off x="457200" y="1280160"/>
            <a:ext cx="2606040" cy="1508760"/>
          </a:xfrm>
          <a:prstGeom prst="rect">
            <a:avLst/>
          </a:prstGeom>
          <a:solidFill>
            <a:srgbClr val="FFFFFF"/>
          </a:solidFill>
          <a:ln w="12700">
            <a:solidFill>
              <a:srgbClr val="D5DCE5"/>
            </a:solidFill>
            <a:prstDash val="solid"/>
          </a:ln>
          <a:effectLst>
            <a:outerShdw blurRad="101600" dist="25400" dir="5400000" algn="bl" rotWithShape="0">
              <a:srgbClr val="000000">
                <a:alpha val="5000"/>
              </a:srgbClr>
            </a:outerShdw>
          </a:effectLst>
        </p:spPr>
        <p:txBody>
          <a:bodyPr/>
          <a:lstStyle/>
          <a:p>
            <a:endParaRPr lang="en-US"/>
          </a:p>
        </p:txBody>
      </p:sp>
      <p:sp>
        <p:nvSpPr>
          <p:cNvPr id="5" name="Shape 3"/>
          <p:cNvSpPr/>
          <p:nvPr/>
        </p:nvSpPr>
        <p:spPr>
          <a:xfrm>
            <a:off x="457200" y="1280160"/>
            <a:ext cx="2606040" cy="54864"/>
          </a:xfrm>
          <a:prstGeom prst="rect">
            <a:avLst/>
          </a:prstGeom>
          <a:solidFill>
            <a:srgbClr val="0F2A4F"/>
          </a:solidFill>
          <a:ln w="12700">
            <a:solidFill>
              <a:srgbClr val="0F2A4F"/>
            </a:solidFill>
            <a:prstDash val="solid"/>
          </a:ln>
        </p:spPr>
        <p:txBody>
          <a:bodyPr/>
          <a:lstStyle/>
          <a:p>
            <a:endParaRPr lang="en-US"/>
          </a:p>
        </p:txBody>
      </p:sp>
      <p:sp>
        <p:nvSpPr>
          <p:cNvPr id="6" name="Text 4"/>
          <p:cNvSpPr/>
          <p:nvPr/>
        </p:nvSpPr>
        <p:spPr>
          <a:xfrm>
            <a:off x="594360" y="1417320"/>
            <a:ext cx="2331720" cy="274320"/>
          </a:xfrm>
          <a:prstGeom prst="rect">
            <a:avLst/>
          </a:prstGeom>
          <a:noFill/>
          <a:ln/>
        </p:spPr>
        <p:txBody>
          <a:bodyPr wrap="square" lIns="0" tIns="0" rIns="0" bIns="0" rtlCol="0" anchor="ctr"/>
          <a:lstStyle/>
          <a:p>
            <a:pPr marL="0" indent="0">
              <a:buNone/>
            </a:pPr>
            <a:r>
              <a:rPr lang="en-US" sz="900" b="1" kern="0" spc="200">
                <a:solidFill>
                  <a:srgbClr val="5A6878"/>
                </a:solidFill>
                <a:latin typeface="Calibri" pitchFamily="34" charset="0"/>
                <a:ea typeface="Calibri" pitchFamily="34" charset="-122"/>
                <a:cs typeface="Calibri" pitchFamily="34" charset="-120"/>
              </a:rPr>
              <a:t>INTRINSIC VALUE / SHARE</a:t>
            </a:r>
            <a:endParaRPr lang="en-US" sz="900"/>
          </a:p>
        </p:txBody>
      </p:sp>
      <p:sp>
        <p:nvSpPr>
          <p:cNvPr id="7" name="Text 5"/>
          <p:cNvSpPr/>
          <p:nvPr/>
        </p:nvSpPr>
        <p:spPr>
          <a:xfrm>
            <a:off x="594360" y="1691640"/>
            <a:ext cx="2331720" cy="685800"/>
          </a:xfrm>
          <a:prstGeom prst="rect">
            <a:avLst/>
          </a:prstGeom>
          <a:noFill/>
          <a:ln/>
        </p:spPr>
        <p:txBody>
          <a:bodyPr wrap="square" lIns="0" tIns="0" rIns="0" bIns="0" rtlCol="0" anchor="ctr"/>
          <a:lstStyle/>
          <a:p>
            <a:pPr marL="0" indent="0">
              <a:buNone/>
            </a:pPr>
            <a:r>
              <a:rPr lang="en-US" sz="4400" b="1">
                <a:solidFill>
                  <a:srgbClr val="0F2A4F"/>
                </a:solidFill>
                <a:latin typeface="Georgia" pitchFamily="34" charset="0"/>
                <a:ea typeface="Georgia" pitchFamily="34" charset="-122"/>
                <a:cs typeface="Georgia" pitchFamily="34" charset="-120"/>
              </a:rPr>
              <a:t>$4.15</a:t>
            </a:r>
            <a:endParaRPr lang="en-US" sz="4400"/>
          </a:p>
        </p:txBody>
      </p:sp>
      <p:sp>
        <p:nvSpPr>
          <p:cNvPr id="8" name="Text 6"/>
          <p:cNvSpPr/>
          <p:nvPr/>
        </p:nvSpPr>
        <p:spPr>
          <a:xfrm>
            <a:off x="594360" y="2423160"/>
            <a:ext cx="2331720" cy="274320"/>
          </a:xfrm>
          <a:prstGeom prst="rect">
            <a:avLst/>
          </a:prstGeom>
          <a:noFill/>
          <a:ln/>
        </p:spPr>
        <p:txBody>
          <a:bodyPr wrap="square" lIns="0" tIns="0" rIns="0" bIns="0" rtlCol="0" anchor="ctr"/>
          <a:lstStyle/>
          <a:p>
            <a:pPr marL="0" indent="0">
              <a:buNone/>
            </a:pPr>
            <a:r>
              <a:rPr lang="en-US" sz="1000" i="1">
                <a:solidFill>
                  <a:srgbClr val="5A6878"/>
                </a:solidFill>
                <a:latin typeface="Calibri" pitchFamily="34" charset="0"/>
                <a:ea typeface="Calibri" pitchFamily="34" charset="-122"/>
                <a:cs typeface="Calibri" pitchFamily="34" charset="-120"/>
              </a:rPr>
              <a:t>DCF model output</a:t>
            </a:r>
            <a:endParaRPr lang="en-US" sz="1000"/>
          </a:p>
        </p:txBody>
      </p:sp>
      <p:sp>
        <p:nvSpPr>
          <p:cNvPr id="9" name="Shape 7"/>
          <p:cNvSpPr/>
          <p:nvPr/>
        </p:nvSpPr>
        <p:spPr>
          <a:xfrm>
            <a:off x="3246120" y="1280160"/>
            <a:ext cx="2606040" cy="1508760"/>
          </a:xfrm>
          <a:prstGeom prst="rect">
            <a:avLst/>
          </a:prstGeom>
          <a:solidFill>
            <a:srgbClr val="FFFFFF"/>
          </a:solidFill>
          <a:ln w="12700">
            <a:solidFill>
              <a:srgbClr val="D5DCE5"/>
            </a:solidFill>
            <a:prstDash val="solid"/>
          </a:ln>
          <a:effectLst>
            <a:outerShdw blurRad="101600" dist="25400" dir="5400000" algn="bl" rotWithShape="0">
              <a:srgbClr val="000000">
                <a:alpha val="5000"/>
              </a:srgbClr>
            </a:outerShdw>
          </a:effectLst>
        </p:spPr>
        <p:txBody>
          <a:bodyPr/>
          <a:lstStyle/>
          <a:p>
            <a:endParaRPr lang="en-US"/>
          </a:p>
        </p:txBody>
      </p:sp>
      <p:sp>
        <p:nvSpPr>
          <p:cNvPr id="10" name="Shape 8"/>
          <p:cNvSpPr/>
          <p:nvPr/>
        </p:nvSpPr>
        <p:spPr>
          <a:xfrm>
            <a:off x="3246120" y="1280160"/>
            <a:ext cx="2606040" cy="54864"/>
          </a:xfrm>
          <a:prstGeom prst="rect">
            <a:avLst/>
          </a:prstGeom>
          <a:solidFill>
            <a:srgbClr val="2B5A8C"/>
          </a:solidFill>
          <a:ln w="12700">
            <a:solidFill>
              <a:srgbClr val="2B5A8C"/>
            </a:solidFill>
            <a:prstDash val="solid"/>
          </a:ln>
        </p:spPr>
        <p:txBody>
          <a:bodyPr/>
          <a:lstStyle/>
          <a:p>
            <a:endParaRPr lang="en-US"/>
          </a:p>
        </p:txBody>
      </p:sp>
      <p:sp>
        <p:nvSpPr>
          <p:cNvPr id="11" name="Text 9"/>
          <p:cNvSpPr/>
          <p:nvPr/>
        </p:nvSpPr>
        <p:spPr>
          <a:xfrm>
            <a:off x="3383280" y="1417320"/>
            <a:ext cx="2331720" cy="274320"/>
          </a:xfrm>
          <a:prstGeom prst="rect">
            <a:avLst/>
          </a:prstGeom>
          <a:noFill/>
          <a:ln/>
        </p:spPr>
        <p:txBody>
          <a:bodyPr wrap="square" lIns="0" tIns="0" rIns="0" bIns="0" rtlCol="0" anchor="ctr"/>
          <a:lstStyle/>
          <a:p>
            <a:pPr marL="0" indent="0">
              <a:buNone/>
            </a:pPr>
            <a:r>
              <a:rPr lang="en-US" sz="900" b="1" kern="0" spc="200">
                <a:solidFill>
                  <a:srgbClr val="5A6878"/>
                </a:solidFill>
                <a:latin typeface="Calibri" pitchFamily="34" charset="0"/>
                <a:ea typeface="Calibri" pitchFamily="34" charset="-122"/>
                <a:cs typeface="Calibri" pitchFamily="34" charset="-120"/>
              </a:rPr>
              <a:t>CURRENT MARKET PRICE</a:t>
            </a:r>
            <a:endParaRPr lang="en-US" sz="900"/>
          </a:p>
        </p:txBody>
      </p:sp>
      <p:sp>
        <p:nvSpPr>
          <p:cNvPr id="12" name="Text 10"/>
          <p:cNvSpPr/>
          <p:nvPr/>
        </p:nvSpPr>
        <p:spPr>
          <a:xfrm>
            <a:off x="3383280" y="1691640"/>
            <a:ext cx="2331720" cy="685800"/>
          </a:xfrm>
          <a:prstGeom prst="rect">
            <a:avLst/>
          </a:prstGeom>
          <a:noFill/>
          <a:ln/>
        </p:spPr>
        <p:txBody>
          <a:bodyPr wrap="square" lIns="0" tIns="0" rIns="0" bIns="0" rtlCol="0" anchor="ctr"/>
          <a:lstStyle/>
          <a:p>
            <a:pPr marL="0" indent="0">
              <a:buNone/>
            </a:pPr>
            <a:r>
              <a:rPr lang="en-US" sz="4400" b="1">
                <a:solidFill>
                  <a:srgbClr val="2B5A8C"/>
                </a:solidFill>
                <a:latin typeface="Georgia" pitchFamily="34" charset="0"/>
                <a:ea typeface="Georgia" pitchFamily="34" charset="-122"/>
                <a:cs typeface="Georgia" pitchFamily="34" charset="-120"/>
              </a:rPr>
              <a:t>$7.11</a:t>
            </a:r>
            <a:endParaRPr lang="en-US" sz="4400"/>
          </a:p>
        </p:txBody>
      </p:sp>
      <p:sp>
        <p:nvSpPr>
          <p:cNvPr id="13" name="Text 11"/>
          <p:cNvSpPr/>
          <p:nvPr/>
        </p:nvSpPr>
        <p:spPr>
          <a:xfrm>
            <a:off x="3383280" y="2423160"/>
            <a:ext cx="2331720" cy="274320"/>
          </a:xfrm>
          <a:prstGeom prst="rect">
            <a:avLst/>
          </a:prstGeom>
          <a:noFill/>
          <a:ln/>
        </p:spPr>
        <p:txBody>
          <a:bodyPr wrap="square" lIns="0" tIns="0" rIns="0" bIns="0" rtlCol="0" anchor="ctr"/>
          <a:lstStyle/>
          <a:p>
            <a:pPr marL="0" indent="0">
              <a:buNone/>
            </a:pPr>
            <a:r>
              <a:rPr lang="en-US" sz="1000" i="1">
                <a:solidFill>
                  <a:srgbClr val="5A6878"/>
                </a:solidFill>
                <a:latin typeface="Calibri" pitchFamily="34" charset="0"/>
                <a:ea typeface="Calibri" pitchFamily="34" charset="-122"/>
                <a:cs typeface="Calibri" pitchFamily="34" charset="-120"/>
              </a:rPr>
              <a:t>as of valuation date</a:t>
            </a:r>
            <a:endParaRPr lang="en-US" sz="1000"/>
          </a:p>
        </p:txBody>
      </p:sp>
      <p:sp>
        <p:nvSpPr>
          <p:cNvPr id="14" name="Shape 12"/>
          <p:cNvSpPr/>
          <p:nvPr/>
        </p:nvSpPr>
        <p:spPr>
          <a:xfrm>
            <a:off x="6035040" y="1280160"/>
            <a:ext cx="2606040" cy="1508760"/>
          </a:xfrm>
          <a:prstGeom prst="rect">
            <a:avLst/>
          </a:prstGeom>
          <a:solidFill>
            <a:srgbClr val="FFFFFF"/>
          </a:solidFill>
          <a:ln w="12700">
            <a:solidFill>
              <a:srgbClr val="D5DCE5"/>
            </a:solidFill>
            <a:prstDash val="solid"/>
          </a:ln>
          <a:effectLst>
            <a:outerShdw blurRad="101600" dist="25400" dir="5400000" algn="bl" rotWithShape="0">
              <a:srgbClr val="000000">
                <a:alpha val="5000"/>
              </a:srgbClr>
            </a:outerShdw>
          </a:effectLst>
        </p:spPr>
        <p:txBody>
          <a:bodyPr/>
          <a:lstStyle/>
          <a:p>
            <a:endParaRPr lang="en-US"/>
          </a:p>
        </p:txBody>
      </p:sp>
      <p:sp>
        <p:nvSpPr>
          <p:cNvPr id="15" name="Shape 13"/>
          <p:cNvSpPr/>
          <p:nvPr/>
        </p:nvSpPr>
        <p:spPr>
          <a:xfrm>
            <a:off x="6035040" y="1280160"/>
            <a:ext cx="2606040" cy="54864"/>
          </a:xfrm>
          <a:prstGeom prst="rect">
            <a:avLst/>
          </a:prstGeom>
          <a:solidFill>
            <a:srgbClr val="C8102E"/>
          </a:solidFill>
          <a:ln w="12700">
            <a:solidFill>
              <a:srgbClr val="C8102E"/>
            </a:solidFill>
            <a:prstDash val="solid"/>
          </a:ln>
        </p:spPr>
        <p:txBody>
          <a:bodyPr/>
          <a:lstStyle/>
          <a:p>
            <a:endParaRPr lang="en-US"/>
          </a:p>
        </p:txBody>
      </p:sp>
      <p:sp>
        <p:nvSpPr>
          <p:cNvPr id="16" name="Text 14"/>
          <p:cNvSpPr/>
          <p:nvPr/>
        </p:nvSpPr>
        <p:spPr>
          <a:xfrm>
            <a:off x="6172200" y="1417320"/>
            <a:ext cx="2331720" cy="274320"/>
          </a:xfrm>
          <a:prstGeom prst="rect">
            <a:avLst/>
          </a:prstGeom>
          <a:noFill/>
          <a:ln/>
        </p:spPr>
        <p:txBody>
          <a:bodyPr wrap="square" lIns="0" tIns="0" rIns="0" bIns="0" rtlCol="0" anchor="ctr"/>
          <a:lstStyle/>
          <a:p>
            <a:pPr marL="0" indent="0">
              <a:buNone/>
            </a:pPr>
            <a:r>
              <a:rPr lang="en-US" sz="900" b="1" kern="0" spc="200">
                <a:solidFill>
                  <a:srgbClr val="5A6878"/>
                </a:solidFill>
                <a:latin typeface="Calibri" pitchFamily="34" charset="0"/>
                <a:ea typeface="Calibri" pitchFamily="34" charset="-122"/>
                <a:cs typeface="Calibri" pitchFamily="34" charset="-120"/>
              </a:rPr>
              <a:t>PREMIUM TO INTRINSIC</a:t>
            </a:r>
            <a:endParaRPr lang="en-US" sz="900"/>
          </a:p>
        </p:txBody>
      </p:sp>
      <p:sp>
        <p:nvSpPr>
          <p:cNvPr id="17" name="Text 15"/>
          <p:cNvSpPr/>
          <p:nvPr/>
        </p:nvSpPr>
        <p:spPr>
          <a:xfrm>
            <a:off x="6172200" y="1691640"/>
            <a:ext cx="2331720" cy="685800"/>
          </a:xfrm>
          <a:prstGeom prst="rect">
            <a:avLst/>
          </a:prstGeom>
          <a:noFill/>
          <a:ln/>
        </p:spPr>
        <p:txBody>
          <a:bodyPr wrap="square" lIns="0" tIns="0" rIns="0" bIns="0" rtlCol="0" anchor="ctr"/>
          <a:lstStyle/>
          <a:p>
            <a:pPr marL="0" indent="0">
              <a:buNone/>
            </a:pPr>
            <a:r>
              <a:rPr lang="en-US" sz="4400" b="1">
                <a:solidFill>
                  <a:srgbClr val="C8102E"/>
                </a:solidFill>
                <a:latin typeface="Georgia" pitchFamily="34" charset="0"/>
                <a:ea typeface="Georgia" pitchFamily="34" charset="-122"/>
                <a:cs typeface="Georgia" pitchFamily="34" charset="-120"/>
              </a:rPr>
              <a:t>~75%</a:t>
            </a:r>
            <a:endParaRPr lang="en-US" sz="4400"/>
          </a:p>
        </p:txBody>
      </p:sp>
      <p:sp>
        <p:nvSpPr>
          <p:cNvPr id="18" name="Text 16"/>
          <p:cNvSpPr/>
          <p:nvPr/>
        </p:nvSpPr>
        <p:spPr>
          <a:xfrm>
            <a:off x="6172200" y="2423160"/>
            <a:ext cx="2331720" cy="274320"/>
          </a:xfrm>
          <a:prstGeom prst="rect">
            <a:avLst/>
          </a:prstGeom>
          <a:noFill/>
          <a:ln/>
        </p:spPr>
        <p:txBody>
          <a:bodyPr wrap="square" lIns="0" tIns="0" rIns="0" bIns="0" rtlCol="0" anchor="ctr"/>
          <a:lstStyle/>
          <a:p>
            <a:pPr marL="0" indent="0">
              <a:buNone/>
            </a:pPr>
            <a:r>
              <a:rPr lang="en-US" sz="1000" i="1">
                <a:solidFill>
                  <a:srgbClr val="5A6878"/>
                </a:solidFill>
                <a:latin typeface="Calibri" pitchFamily="34" charset="0"/>
                <a:ea typeface="Calibri" pitchFamily="34" charset="-122"/>
                <a:cs typeface="Calibri" pitchFamily="34" charset="-120"/>
              </a:rPr>
              <a:t>Holds in upside case</a:t>
            </a:r>
            <a:endParaRPr lang="en-US" sz="1000"/>
          </a:p>
        </p:txBody>
      </p:sp>
      <p:sp>
        <p:nvSpPr>
          <p:cNvPr id="19" name="Shape 17"/>
          <p:cNvSpPr/>
          <p:nvPr/>
        </p:nvSpPr>
        <p:spPr>
          <a:xfrm>
            <a:off x="457200" y="3108960"/>
            <a:ext cx="8229600" cy="1417320"/>
          </a:xfrm>
          <a:prstGeom prst="rect">
            <a:avLst/>
          </a:prstGeom>
          <a:solidFill>
            <a:srgbClr val="0F2A4F"/>
          </a:solidFill>
          <a:ln w="12700">
            <a:solidFill>
              <a:srgbClr val="0F2A4F"/>
            </a:solidFill>
            <a:prstDash val="solid"/>
          </a:ln>
        </p:spPr>
        <p:txBody>
          <a:bodyPr/>
          <a:lstStyle/>
          <a:p>
            <a:endParaRPr lang="en-US"/>
          </a:p>
        </p:txBody>
      </p:sp>
      <p:sp>
        <p:nvSpPr>
          <p:cNvPr id="20" name="Text 18"/>
          <p:cNvSpPr/>
          <p:nvPr/>
        </p:nvSpPr>
        <p:spPr>
          <a:xfrm>
            <a:off x="777240" y="3246120"/>
            <a:ext cx="7589520" cy="274320"/>
          </a:xfrm>
          <a:prstGeom prst="rect">
            <a:avLst/>
          </a:prstGeom>
          <a:noFill/>
          <a:ln/>
        </p:spPr>
        <p:txBody>
          <a:bodyPr wrap="square" lIns="0" tIns="0" rIns="0" bIns="0" rtlCol="0" anchor="ctr"/>
          <a:lstStyle/>
          <a:p>
            <a:pPr marL="0" indent="0">
              <a:buNone/>
            </a:pPr>
            <a:r>
              <a:rPr lang="en-US" sz="1100" b="1" kern="0" spc="300">
                <a:solidFill>
                  <a:srgbClr val="C9A547"/>
                </a:solidFill>
                <a:latin typeface="Calibri" pitchFamily="34" charset="0"/>
                <a:ea typeface="Calibri" pitchFamily="34" charset="-122"/>
                <a:cs typeface="Calibri" pitchFamily="34" charset="-120"/>
              </a:rPr>
              <a:t>OUR RECOMMENDATION</a:t>
            </a:r>
            <a:endParaRPr lang="en-US" sz="1100"/>
          </a:p>
        </p:txBody>
      </p:sp>
      <p:sp>
        <p:nvSpPr>
          <p:cNvPr id="21" name="Text 19"/>
          <p:cNvSpPr/>
          <p:nvPr/>
        </p:nvSpPr>
        <p:spPr>
          <a:xfrm>
            <a:off x="777240" y="3520440"/>
            <a:ext cx="7589520" cy="411480"/>
          </a:xfrm>
          <a:prstGeom prst="rect">
            <a:avLst/>
          </a:prstGeom>
          <a:noFill/>
          <a:ln/>
        </p:spPr>
        <p:txBody>
          <a:bodyPr wrap="square" lIns="0" tIns="0" rIns="0" bIns="0" rtlCol="0" anchor="ctr"/>
          <a:lstStyle/>
          <a:p>
            <a:pPr marL="0" indent="0">
              <a:buNone/>
            </a:pPr>
            <a:r>
              <a:rPr lang="en-US" sz="2200" b="1">
                <a:solidFill>
                  <a:srgbClr val="FFFFFF"/>
                </a:solidFill>
                <a:latin typeface="Georgia" pitchFamily="34" charset="0"/>
                <a:ea typeface="Georgia" pitchFamily="34" charset="-122"/>
                <a:cs typeface="Georgia" pitchFamily="34" charset="-120"/>
              </a:rPr>
              <a:t>PASS — Do not pursue acquisition at the current price</a:t>
            </a:r>
            <a:endParaRPr lang="en-US" sz="2200"/>
          </a:p>
        </p:txBody>
      </p:sp>
      <p:sp>
        <p:nvSpPr>
          <p:cNvPr id="22" name="Text 20"/>
          <p:cNvSpPr/>
          <p:nvPr/>
        </p:nvSpPr>
        <p:spPr>
          <a:xfrm>
            <a:off x="777240" y="3950208"/>
            <a:ext cx="7589520" cy="548640"/>
          </a:xfrm>
          <a:prstGeom prst="rect">
            <a:avLst/>
          </a:prstGeom>
          <a:noFill/>
          <a:ln/>
        </p:spPr>
        <p:txBody>
          <a:bodyPr wrap="square" lIns="0" tIns="0" rIns="0" bIns="0" rtlCol="0" anchor="ctr"/>
          <a:lstStyle/>
          <a:p>
            <a:pPr marL="0" indent="0">
              <a:buNone/>
            </a:pPr>
            <a:r>
              <a:rPr lang="en-US" sz="1100" i="1">
                <a:solidFill>
                  <a:srgbClr val="CADCFC"/>
                </a:solidFill>
                <a:latin typeface="Calibri" pitchFamily="34" charset="0"/>
                <a:ea typeface="Calibri" pitchFamily="34" charset="-122"/>
                <a:cs typeface="Calibri" pitchFamily="34" charset="-120"/>
              </a:rPr>
              <a:t>Even under our optimistic scenario, the intrinsic value ($6.44) remains below the current price. A control premium on top of an already overvalued price is hard to justify without specific, quantifiable synergies.</a:t>
            </a:r>
            <a:endParaRPr lang="en-US" sz="1100"/>
          </a:p>
        </p:txBody>
      </p:sp>
      <p:sp>
        <p:nvSpPr>
          <p:cNvPr id="23" name="Text 21"/>
          <p:cNvSpPr/>
          <p:nvPr/>
        </p:nvSpPr>
        <p:spPr>
          <a:xfrm>
            <a:off x="457200" y="4864608"/>
            <a:ext cx="3657600" cy="228600"/>
          </a:xfrm>
          <a:prstGeom prst="rect">
            <a:avLst/>
          </a:prstGeom>
          <a:noFill/>
          <a:ln/>
        </p:spPr>
        <p:txBody>
          <a:bodyPr wrap="square" lIns="0" tIns="0" rIns="0" bIns="0" rtlCol="0" anchor="ctr"/>
          <a:lstStyle/>
          <a:p>
            <a:pPr marL="0" indent="0" algn="l">
              <a:buNone/>
            </a:pPr>
            <a:r>
              <a:rPr lang="en-US" sz="900">
                <a:solidFill>
                  <a:srgbClr val="5A6878"/>
                </a:solidFill>
                <a:latin typeface="Calibri" pitchFamily="34" charset="0"/>
                <a:ea typeface="Calibri" pitchFamily="34" charset="-122"/>
                <a:cs typeface="Calibri" pitchFamily="34" charset="-120"/>
              </a:rPr>
              <a:t>EVLV  |  M&amp;A Valuation</a:t>
            </a:r>
            <a:endParaRPr lang="en-US" sz="900"/>
          </a:p>
        </p:txBody>
      </p:sp>
      <p:sp>
        <p:nvSpPr>
          <p:cNvPr id="24" name="Text 22"/>
          <p:cNvSpPr/>
          <p:nvPr/>
        </p:nvSpPr>
        <p:spPr>
          <a:xfrm>
            <a:off x="8412480" y="4864608"/>
            <a:ext cx="548640" cy="228600"/>
          </a:xfrm>
          <a:prstGeom prst="rect">
            <a:avLst/>
          </a:prstGeom>
          <a:noFill/>
          <a:ln/>
        </p:spPr>
        <p:txBody>
          <a:bodyPr wrap="square" lIns="0" tIns="0" rIns="0" bIns="0" rtlCol="0" anchor="ctr"/>
          <a:lstStyle/>
          <a:p>
            <a:pPr marL="0" indent="0" algn="r">
              <a:buNone/>
            </a:pPr>
            <a:r>
              <a:rPr lang="en-US" sz="900">
                <a:solidFill>
                  <a:srgbClr val="5A6878"/>
                </a:solidFill>
                <a:latin typeface="Calibri" pitchFamily="34" charset="0"/>
                <a:ea typeface="Calibri" pitchFamily="34" charset="-122"/>
                <a:cs typeface="Calibri" pitchFamily="34" charset="-120"/>
              </a:rPr>
              <a:t>2 / 10</a:t>
            </a:r>
            <a:endParaRPr lang="en-US" sz="9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502920"/>
          </a:xfrm>
          <a:prstGeom prst="rect">
            <a:avLst/>
          </a:prstGeom>
          <a:noFill/>
          <a:ln/>
        </p:spPr>
        <p:txBody>
          <a:bodyPr wrap="square" lIns="0" tIns="0" rIns="0" bIns="0" rtlCol="0" anchor="ctr"/>
          <a:lstStyle/>
          <a:p>
            <a:pPr marL="0" indent="0">
              <a:buNone/>
            </a:pPr>
            <a:r>
              <a:rPr lang="en-US" sz="2600" b="1">
                <a:solidFill>
                  <a:srgbClr val="0F2A4F"/>
                </a:solidFill>
                <a:latin typeface="Georgia" pitchFamily="34" charset="0"/>
                <a:ea typeface="Georgia" pitchFamily="34" charset="-122"/>
                <a:cs typeface="Georgia" pitchFamily="34" charset="-120"/>
              </a:rPr>
              <a:t>Sensitivity Analysis</a:t>
            </a:r>
            <a:endParaRPr lang="en-US" sz="2600"/>
          </a:p>
        </p:txBody>
      </p:sp>
      <p:sp>
        <p:nvSpPr>
          <p:cNvPr id="3" name="Text 1"/>
          <p:cNvSpPr/>
          <p:nvPr/>
        </p:nvSpPr>
        <p:spPr>
          <a:xfrm>
            <a:off x="457200" y="841248"/>
            <a:ext cx="8229600" cy="274320"/>
          </a:xfrm>
          <a:prstGeom prst="rect">
            <a:avLst/>
          </a:prstGeom>
          <a:noFill/>
          <a:ln/>
        </p:spPr>
        <p:txBody>
          <a:bodyPr wrap="square" lIns="0" tIns="0" rIns="0" bIns="0" rtlCol="0" anchor="ctr"/>
          <a:lstStyle/>
          <a:p>
            <a:pPr marL="0" indent="0">
              <a:buNone/>
            </a:pPr>
            <a:r>
              <a:rPr lang="en-US" sz="1300" i="1">
                <a:solidFill>
                  <a:srgbClr val="5A6878"/>
                </a:solidFill>
                <a:latin typeface="Calibri" pitchFamily="34" charset="0"/>
                <a:ea typeface="Calibri" pitchFamily="34" charset="-122"/>
                <a:cs typeface="Calibri" pitchFamily="34" charset="-120"/>
              </a:rPr>
              <a:t>Conclusion holds the same across Bull/Base/Bear scenarios</a:t>
            </a:r>
            <a:endParaRPr lang="en-US" sz="1300"/>
          </a:p>
        </p:txBody>
      </p:sp>
      <p:sp>
        <p:nvSpPr>
          <p:cNvPr id="4" name="Shape 2"/>
          <p:cNvSpPr/>
          <p:nvPr/>
        </p:nvSpPr>
        <p:spPr>
          <a:xfrm>
            <a:off x="457200" y="1280160"/>
            <a:ext cx="2606040" cy="1371600"/>
          </a:xfrm>
          <a:prstGeom prst="rect">
            <a:avLst/>
          </a:prstGeom>
          <a:solidFill>
            <a:schemeClr val="accent1">
              <a:lumMod val="75000"/>
            </a:schemeClr>
          </a:solidFill>
          <a:ln w="12700">
            <a:solidFill>
              <a:srgbClr val="C8102E"/>
            </a:solidFill>
            <a:prstDash val="solid"/>
          </a:ln>
        </p:spPr>
        <p:txBody>
          <a:bodyPr/>
          <a:lstStyle/>
          <a:p>
            <a:endParaRPr lang="en-US"/>
          </a:p>
        </p:txBody>
      </p:sp>
      <p:sp>
        <p:nvSpPr>
          <p:cNvPr id="5" name="Text 3"/>
          <p:cNvSpPr/>
          <p:nvPr/>
        </p:nvSpPr>
        <p:spPr>
          <a:xfrm>
            <a:off x="594360" y="1371600"/>
            <a:ext cx="2331720" cy="274320"/>
          </a:xfrm>
          <a:prstGeom prst="rect">
            <a:avLst/>
          </a:prstGeom>
          <a:noFill/>
          <a:ln/>
        </p:spPr>
        <p:txBody>
          <a:bodyPr wrap="square" lIns="0" tIns="0" rIns="0" bIns="0" rtlCol="0" anchor="ctr"/>
          <a:lstStyle/>
          <a:p>
            <a:pPr marL="0" indent="0">
              <a:buNone/>
            </a:pPr>
            <a:r>
              <a:rPr lang="en-US" sz="1000" b="1" kern="0" spc="300">
                <a:solidFill>
                  <a:srgbClr val="C9A547"/>
                </a:solidFill>
                <a:latin typeface="Calibri" pitchFamily="34" charset="0"/>
                <a:ea typeface="Calibri" pitchFamily="34" charset="-122"/>
                <a:cs typeface="Calibri" pitchFamily="34" charset="-120"/>
              </a:rPr>
              <a:t> BASE CASE</a:t>
            </a:r>
            <a:endParaRPr lang="en-US" sz="1000"/>
          </a:p>
        </p:txBody>
      </p:sp>
      <p:sp>
        <p:nvSpPr>
          <p:cNvPr id="6" name="Text 4"/>
          <p:cNvSpPr/>
          <p:nvPr/>
        </p:nvSpPr>
        <p:spPr>
          <a:xfrm>
            <a:off x="594360" y="1627632"/>
            <a:ext cx="2331720" cy="502920"/>
          </a:xfrm>
          <a:prstGeom prst="rect">
            <a:avLst/>
          </a:prstGeom>
          <a:noFill/>
          <a:ln/>
        </p:spPr>
        <p:txBody>
          <a:bodyPr wrap="square" lIns="0" tIns="0" rIns="0" bIns="0" rtlCol="0" anchor="ctr"/>
          <a:lstStyle/>
          <a:p>
            <a:r>
              <a:rPr lang="en-US" sz="3200" b="1">
                <a:solidFill>
                  <a:srgbClr val="FFFFFF"/>
                </a:solidFill>
                <a:latin typeface="Georgia" pitchFamily="34" charset="0"/>
                <a:ea typeface="Georgia" pitchFamily="34" charset="-122"/>
                <a:cs typeface="Georgia" pitchFamily="34" charset="-120"/>
              </a:rPr>
              <a:t>$4.15</a:t>
            </a:r>
            <a:endParaRPr lang="en-US" sz="3200"/>
          </a:p>
        </p:txBody>
      </p:sp>
      <p:sp>
        <p:nvSpPr>
          <p:cNvPr id="7" name="Text 5"/>
          <p:cNvSpPr/>
          <p:nvPr/>
        </p:nvSpPr>
        <p:spPr>
          <a:xfrm>
            <a:off x="594360" y="2194560"/>
            <a:ext cx="2331720" cy="411480"/>
          </a:xfrm>
          <a:prstGeom prst="rect">
            <a:avLst/>
          </a:prstGeom>
          <a:noFill/>
          <a:ln/>
        </p:spPr>
        <p:txBody>
          <a:bodyPr wrap="square" lIns="0" tIns="0" rIns="0" bIns="0" rtlCol="0" anchor="ctr"/>
          <a:lstStyle/>
          <a:p>
            <a:r>
              <a:rPr lang="en-US" sz="950" i="1">
                <a:solidFill>
                  <a:srgbClr val="CADCFC"/>
                </a:solidFill>
                <a:latin typeface="Calibri" pitchFamily="34" charset="0"/>
                <a:ea typeface="Calibri" pitchFamily="34" charset="-122"/>
                <a:cs typeface="Calibri" pitchFamily="34" charset="-120"/>
              </a:rPr>
              <a:t>Forecast assumptions as projected</a:t>
            </a:r>
            <a:endParaRPr lang="en-US" sz="950"/>
          </a:p>
        </p:txBody>
      </p:sp>
      <p:sp>
        <p:nvSpPr>
          <p:cNvPr id="10" name="Text 8"/>
          <p:cNvSpPr/>
          <p:nvPr/>
        </p:nvSpPr>
        <p:spPr>
          <a:xfrm>
            <a:off x="3383280" y="1627632"/>
            <a:ext cx="2331720" cy="502920"/>
          </a:xfrm>
          <a:prstGeom prst="rect">
            <a:avLst/>
          </a:prstGeom>
          <a:noFill/>
          <a:ln/>
        </p:spPr>
        <p:txBody>
          <a:bodyPr wrap="square" lIns="0" tIns="0" rIns="0" bIns="0" rtlCol="0" anchor="ctr"/>
          <a:lstStyle/>
          <a:p>
            <a:pPr marL="0" indent="0">
              <a:buNone/>
            </a:pPr>
            <a:endParaRPr lang="en-US" sz="3200"/>
          </a:p>
        </p:txBody>
      </p:sp>
      <p:sp>
        <p:nvSpPr>
          <p:cNvPr id="11" name="Text 9"/>
          <p:cNvSpPr/>
          <p:nvPr/>
        </p:nvSpPr>
        <p:spPr>
          <a:xfrm>
            <a:off x="3383280" y="2194560"/>
            <a:ext cx="2331720" cy="411480"/>
          </a:xfrm>
          <a:prstGeom prst="rect">
            <a:avLst/>
          </a:prstGeom>
          <a:noFill/>
          <a:ln/>
        </p:spPr>
        <p:txBody>
          <a:bodyPr wrap="square" lIns="0" tIns="0" rIns="0" bIns="0" rtlCol="0" anchor="ctr"/>
          <a:lstStyle/>
          <a:p>
            <a:pPr marL="0" indent="0">
              <a:buNone/>
            </a:pPr>
            <a:endParaRPr lang="en-US" sz="950"/>
          </a:p>
        </p:txBody>
      </p:sp>
      <p:sp>
        <p:nvSpPr>
          <p:cNvPr id="14" name="Text 12"/>
          <p:cNvSpPr/>
          <p:nvPr/>
        </p:nvSpPr>
        <p:spPr>
          <a:xfrm>
            <a:off x="6172200" y="1627632"/>
            <a:ext cx="2331720" cy="502920"/>
          </a:xfrm>
          <a:prstGeom prst="rect">
            <a:avLst/>
          </a:prstGeom>
          <a:noFill/>
          <a:ln/>
        </p:spPr>
        <p:txBody>
          <a:bodyPr wrap="square" lIns="0" tIns="0" rIns="0" bIns="0" rtlCol="0" anchor="ctr"/>
          <a:lstStyle/>
          <a:p>
            <a:pPr marL="0" indent="0">
              <a:buNone/>
            </a:pPr>
            <a:endParaRPr lang="en-US" sz="3200"/>
          </a:p>
        </p:txBody>
      </p:sp>
      <p:sp>
        <p:nvSpPr>
          <p:cNvPr id="16" name="Shape 14"/>
          <p:cNvSpPr/>
          <p:nvPr/>
        </p:nvSpPr>
        <p:spPr>
          <a:xfrm>
            <a:off x="411480" y="4027101"/>
            <a:ext cx="8229600" cy="457200"/>
          </a:xfrm>
          <a:prstGeom prst="rect">
            <a:avLst/>
          </a:prstGeom>
          <a:solidFill>
            <a:srgbClr val="C9A547"/>
          </a:solidFill>
          <a:ln w="12700">
            <a:solidFill>
              <a:srgbClr val="C9A547"/>
            </a:solidFill>
            <a:prstDash val="solid"/>
          </a:ln>
        </p:spPr>
        <p:txBody>
          <a:bodyPr/>
          <a:lstStyle/>
          <a:p>
            <a:endParaRPr lang="en-US"/>
          </a:p>
        </p:txBody>
      </p:sp>
      <p:sp>
        <p:nvSpPr>
          <p:cNvPr id="17" name="Text 15"/>
          <p:cNvSpPr/>
          <p:nvPr/>
        </p:nvSpPr>
        <p:spPr>
          <a:xfrm>
            <a:off x="594360" y="4027101"/>
            <a:ext cx="7863840" cy="457200"/>
          </a:xfrm>
          <a:prstGeom prst="rect">
            <a:avLst/>
          </a:prstGeom>
          <a:noFill/>
          <a:ln/>
        </p:spPr>
        <p:txBody>
          <a:bodyPr wrap="square" lIns="0" tIns="0" rIns="0" bIns="0" rtlCol="0" anchor="ctr"/>
          <a:lstStyle/>
          <a:p>
            <a:pPr marL="0" indent="0">
              <a:buNone/>
            </a:pPr>
            <a:r>
              <a:rPr lang="en-US" sz="1200" b="1" i="1">
                <a:solidFill>
                  <a:srgbClr val="0F2A4F"/>
                </a:solidFill>
                <a:latin typeface="Calibri" pitchFamily="34" charset="0"/>
                <a:ea typeface="Calibri" pitchFamily="34" charset="-122"/>
                <a:cs typeface="Calibri" pitchFamily="34" charset="-120"/>
              </a:rPr>
              <a:t>In the Base case ($4.15), Evolv's intrinsic value remains below the current market price of $7.25.</a:t>
            </a:r>
            <a:endParaRPr lang="en-US" sz="1200"/>
          </a:p>
        </p:txBody>
      </p:sp>
      <p:sp>
        <p:nvSpPr>
          <p:cNvPr id="20" name="Text 18"/>
          <p:cNvSpPr/>
          <p:nvPr/>
        </p:nvSpPr>
        <p:spPr>
          <a:xfrm>
            <a:off x="457200" y="4864608"/>
            <a:ext cx="3657600" cy="228600"/>
          </a:xfrm>
          <a:prstGeom prst="rect">
            <a:avLst/>
          </a:prstGeom>
          <a:noFill/>
          <a:ln/>
        </p:spPr>
        <p:txBody>
          <a:bodyPr wrap="square" lIns="0" tIns="0" rIns="0" bIns="0" rtlCol="0" anchor="ctr"/>
          <a:lstStyle/>
          <a:p>
            <a:pPr marL="0" indent="0" algn="l">
              <a:buNone/>
            </a:pPr>
            <a:r>
              <a:rPr lang="en-US" sz="900">
                <a:solidFill>
                  <a:srgbClr val="5A6878"/>
                </a:solidFill>
                <a:latin typeface="Calibri" pitchFamily="34" charset="0"/>
                <a:ea typeface="Calibri" pitchFamily="34" charset="-122"/>
                <a:cs typeface="Calibri" pitchFamily="34" charset="-120"/>
              </a:rPr>
              <a:t>EVLV  |  M&amp;A Valuation</a:t>
            </a:r>
            <a:endParaRPr lang="en-US" sz="900"/>
          </a:p>
        </p:txBody>
      </p:sp>
      <p:sp>
        <p:nvSpPr>
          <p:cNvPr id="21" name="Text 19"/>
          <p:cNvSpPr/>
          <p:nvPr/>
        </p:nvSpPr>
        <p:spPr>
          <a:xfrm>
            <a:off x="8412480" y="4864608"/>
            <a:ext cx="548640" cy="228600"/>
          </a:xfrm>
          <a:prstGeom prst="rect">
            <a:avLst/>
          </a:prstGeom>
          <a:noFill/>
          <a:ln/>
        </p:spPr>
        <p:txBody>
          <a:bodyPr wrap="square" lIns="0" tIns="0" rIns="0" bIns="0" rtlCol="0" anchor="ctr"/>
          <a:lstStyle/>
          <a:p>
            <a:pPr marL="0" indent="0" algn="r">
              <a:buNone/>
            </a:pPr>
            <a:r>
              <a:rPr lang="en-US" sz="900">
                <a:solidFill>
                  <a:srgbClr val="5A6878"/>
                </a:solidFill>
                <a:latin typeface="Calibri" pitchFamily="34" charset="0"/>
                <a:ea typeface="Calibri" pitchFamily="34" charset="-122"/>
                <a:cs typeface="Calibri" pitchFamily="34" charset="-120"/>
              </a:rPr>
              <a:t>9 / 10</a:t>
            </a:r>
            <a:endParaRPr lang="en-US" sz="900"/>
          </a:p>
        </p:txBody>
      </p:sp>
      <p:pic>
        <p:nvPicPr>
          <p:cNvPr id="23" name="Picture 22">
            <a:extLst>
              <a:ext uri="{FF2B5EF4-FFF2-40B4-BE49-F238E27FC236}">
                <a16:creationId xmlns:a16="http://schemas.microsoft.com/office/drawing/2014/main" id="{64C1521C-201A-933F-51A8-E260448C92CF}"/>
              </a:ext>
            </a:extLst>
          </p:cNvPr>
          <p:cNvPicPr>
            <a:picLocks noChangeAspect="1"/>
          </p:cNvPicPr>
          <p:nvPr/>
        </p:nvPicPr>
        <p:blipFill>
          <a:blip r:embed="rId3"/>
          <a:stretch>
            <a:fillRect/>
          </a:stretch>
        </p:blipFill>
        <p:spPr>
          <a:xfrm>
            <a:off x="365760" y="2769801"/>
            <a:ext cx="7772400" cy="109353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a:extLst>
            <a:ext uri="{FF2B5EF4-FFF2-40B4-BE49-F238E27FC236}">
              <a16:creationId xmlns:a16="http://schemas.microsoft.com/office/drawing/2014/main" id="{86BC7F0A-E92B-895D-74C2-8A3DE6257D9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6990FDC-F2E2-E73F-AA4A-499D15801FA3}"/>
              </a:ext>
            </a:extLst>
          </p:cNvPr>
          <p:cNvSpPr/>
          <p:nvPr/>
        </p:nvSpPr>
        <p:spPr>
          <a:xfrm>
            <a:off x="457200" y="320040"/>
            <a:ext cx="8229600" cy="502920"/>
          </a:xfrm>
          <a:prstGeom prst="rect">
            <a:avLst/>
          </a:prstGeom>
          <a:noFill/>
          <a:ln/>
        </p:spPr>
        <p:txBody>
          <a:bodyPr wrap="square" lIns="0" tIns="0" rIns="0" bIns="0" rtlCol="0" anchor="ctr"/>
          <a:lstStyle/>
          <a:p>
            <a:pPr marL="0" indent="0">
              <a:buNone/>
            </a:pPr>
            <a:r>
              <a:rPr lang="en-US" sz="2600" b="1">
                <a:solidFill>
                  <a:srgbClr val="0F2A4F"/>
                </a:solidFill>
                <a:latin typeface="Georgia" pitchFamily="34" charset="0"/>
                <a:ea typeface="Georgia" pitchFamily="34" charset="-122"/>
                <a:cs typeface="Georgia" pitchFamily="34" charset="-120"/>
              </a:rPr>
              <a:t>Sensitivity Analysis</a:t>
            </a:r>
            <a:endParaRPr lang="en-US" sz="2600"/>
          </a:p>
        </p:txBody>
      </p:sp>
      <p:sp>
        <p:nvSpPr>
          <p:cNvPr id="3" name="Text 1">
            <a:extLst>
              <a:ext uri="{FF2B5EF4-FFF2-40B4-BE49-F238E27FC236}">
                <a16:creationId xmlns:a16="http://schemas.microsoft.com/office/drawing/2014/main" id="{990E14AE-5422-0DA3-5BFF-6710A26F6505}"/>
              </a:ext>
            </a:extLst>
          </p:cNvPr>
          <p:cNvSpPr/>
          <p:nvPr/>
        </p:nvSpPr>
        <p:spPr>
          <a:xfrm>
            <a:off x="457200" y="841248"/>
            <a:ext cx="8229600" cy="274320"/>
          </a:xfrm>
          <a:prstGeom prst="rect">
            <a:avLst/>
          </a:prstGeom>
          <a:noFill/>
          <a:ln/>
        </p:spPr>
        <p:txBody>
          <a:bodyPr wrap="square" lIns="0" tIns="0" rIns="0" bIns="0" rtlCol="0" anchor="ctr"/>
          <a:lstStyle/>
          <a:p>
            <a:pPr marL="0" indent="0">
              <a:buNone/>
            </a:pPr>
            <a:r>
              <a:rPr lang="en-US" sz="1300" i="1">
                <a:solidFill>
                  <a:srgbClr val="5A6878"/>
                </a:solidFill>
                <a:latin typeface="Calibri" pitchFamily="34" charset="0"/>
                <a:ea typeface="Calibri" pitchFamily="34" charset="-122"/>
                <a:cs typeface="Calibri" pitchFamily="34" charset="-120"/>
              </a:rPr>
              <a:t>Conclusion holds across Bull/Base/Bear scenarios</a:t>
            </a:r>
            <a:endParaRPr lang="en-US" sz="1300"/>
          </a:p>
        </p:txBody>
      </p:sp>
      <p:sp>
        <p:nvSpPr>
          <p:cNvPr id="4" name="Shape 2">
            <a:extLst>
              <a:ext uri="{FF2B5EF4-FFF2-40B4-BE49-F238E27FC236}">
                <a16:creationId xmlns:a16="http://schemas.microsoft.com/office/drawing/2014/main" id="{3EF6F7E7-6DC2-1D52-749F-F9D542386A17}"/>
              </a:ext>
            </a:extLst>
          </p:cNvPr>
          <p:cNvSpPr/>
          <p:nvPr/>
        </p:nvSpPr>
        <p:spPr>
          <a:xfrm>
            <a:off x="457200" y="1280160"/>
            <a:ext cx="2606040" cy="1371600"/>
          </a:xfrm>
          <a:prstGeom prst="rect">
            <a:avLst/>
          </a:prstGeom>
          <a:solidFill>
            <a:srgbClr val="C8102E"/>
          </a:solidFill>
          <a:ln w="12700">
            <a:solidFill>
              <a:srgbClr val="C8102E"/>
            </a:solidFill>
            <a:prstDash val="solid"/>
          </a:ln>
        </p:spPr>
        <p:txBody>
          <a:bodyPr/>
          <a:lstStyle/>
          <a:p>
            <a:endParaRPr lang="en-US"/>
          </a:p>
        </p:txBody>
      </p:sp>
      <p:sp>
        <p:nvSpPr>
          <p:cNvPr id="5" name="Text 3">
            <a:extLst>
              <a:ext uri="{FF2B5EF4-FFF2-40B4-BE49-F238E27FC236}">
                <a16:creationId xmlns:a16="http://schemas.microsoft.com/office/drawing/2014/main" id="{0607BB3A-49CF-0435-9A5F-8168AF95BD3D}"/>
              </a:ext>
            </a:extLst>
          </p:cNvPr>
          <p:cNvSpPr/>
          <p:nvPr/>
        </p:nvSpPr>
        <p:spPr>
          <a:xfrm>
            <a:off x="594360" y="1371600"/>
            <a:ext cx="2331720" cy="274320"/>
          </a:xfrm>
          <a:prstGeom prst="rect">
            <a:avLst/>
          </a:prstGeom>
          <a:noFill/>
          <a:ln/>
        </p:spPr>
        <p:txBody>
          <a:bodyPr wrap="square" lIns="0" tIns="0" rIns="0" bIns="0" rtlCol="0" anchor="ctr"/>
          <a:lstStyle/>
          <a:p>
            <a:pPr marL="0" indent="0">
              <a:buNone/>
            </a:pPr>
            <a:r>
              <a:rPr lang="en-US" sz="1000" b="1" kern="0" spc="300">
                <a:solidFill>
                  <a:srgbClr val="C9A547"/>
                </a:solidFill>
                <a:latin typeface="Calibri" pitchFamily="34" charset="0"/>
                <a:ea typeface="Calibri" pitchFamily="34" charset="-122"/>
                <a:cs typeface="Calibri" pitchFamily="34" charset="-120"/>
              </a:rPr>
              <a:t>BEAR CASE</a:t>
            </a:r>
            <a:endParaRPr lang="en-US" sz="1000"/>
          </a:p>
        </p:txBody>
      </p:sp>
      <p:sp>
        <p:nvSpPr>
          <p:cNvPr id="6" name="Text 4">
            <a:extLst>
              <a:ext uri="{FF2B5EF4-FFF2-40B4-BE49-F238E27FC236}">
                <a16:creationId xmlns:a16="http://schemas.microsoft.com/office/drawing/2014/main" id="{ED578DE5-B867-1CE5-7274-B14FF5A92945}"/>
              </a:ext>
            </a:extLst>
          </p:cNvPr>
          <p:cNvSpPr/>
          <p:nvPr/>
        </p:nvSpPr>
        <p:spPr>
          <a:xfrm>
            <a:off x="594360" y="1627632"/>
            <a:ext cx="2331720" cy="502920"/>
          </a:xfrm>
          <a:prstGeom prst="rect">
            <a:avLst/>
          </a:prstGeom>
          <a:noFill/>
          <a:ln/>
        </p:spPr>
        <p:txBody>
          <a:bodyPr wrap="square" lIns="0" tIns="0" rIns="0" bIns="0" rtlCol="0" anchor="ctr"/>
          <a:lstStyle/>
          <a:p>
            <a:pPr marL="0" indent="0">
              <a:buNone/>
            </a:pPr>
            <a:r>
              <a:rPr lang="en-US" sz="3200" b="1">
                <a:solidFill>
                  <a:srgbClr val="FFFFFF"/>
                </a:solidFill>
                <a:latin typeface="Georgia" pitchFamily="34" charset="0"/>
                <a:ea typeface="Georgia" pitchFamily="34" charset="-122"/>
                <a:cs typeface="Georgia" pitchFamily="34" charset="-120"/>
              </a:rPr>
              <a:t>$2.28</a:t>
            </a:r>
            <a:endParaRPr lang="en-US" sz="3200"/>
          </a:p>
        </p:txBody>
      </p:sp>
      <p:sp>
        <p:nvSpPr>
          <p:cNvPr id="7" name="Text 5">
            <a:extLst>
              <a:ext uri="{FF2B5EF4-FFF2-40B4-BE49-F238E27FC236}">
                <a16:creationId xmlns:a16="http://schemas.microsoft.com/office/drawing/2014/main" id="{630B3F8E-8BFC-055C-7812-6DB21A921936}"/>
              </a:ext>
            </a:extLst>
          </p:cNvPr>
          <p:cNvSpPr/>
          <p:nvPr/>
        </p:nvSpPr>
        <p:spPr>
          <a:xfrm>
            <a:off x="594360" y="2194560"/>
            <a:ext cx="2331720" cy="411480"/>
          </a:xfrm>
          <a:prstGeom prst="rect">
            <a:avLst/>
          </a:prstGeom>
          <a:noFill/>
          <a:ln/>
        </p:spPr>
        <p:txBody>
          <a:bodyPr wrap="square" lIns="0" tIns="0" rIns="0" bIns="0" rtlCol="0" anchor="ctr"/>
          <a:lstStyle/>
          <a:p>
            <a:pPr marL="0" indent="0">
              <a:buNone/>
            </a:pPr>
            <a:r>
              <a:rPr lang="en-US" sz="950" i="1">
                <a:solidFill>
                  <a:srgbClr val="CADCFC"/>
                </a:solidFill>
                <a:latin typeface="Calibri" pitchFamily="34" charset="0"/>
                <a:ea typeface="Calibri" pitchFamily="34" charset="-122"/>
                <a:cs typeface="Calibri" pitchFamily="34" charset="-120"/>
              </a:rPr>
              <a:t>Slower growth, weaker margin expansion, higher opex burn</a:t>
            </a:r>
            <a:endParaRPr lang="en-US" sz="950"/>
          </a:p>
        </p:txBody>
      </p:sp>
      <p:sp>
        <p:nvSpPr>
          <p:cNvPr id="16" name="Shape 14">
            <a:extLst>
              <a:ext uri="{FF2B5EF4-FFF2-40B4-BE49-F238E27FC236}">
                <a16:creationId xmlns:a16="http://schemas.microsoft.com/office/drawing/2014/main" id="{1E36C922-BCAB-96E3-E8D2-180EA47C450A}"/>
              </a:ext>
            </a:extLst>
          </p:cNvPr>
          <p:cNvSpPr/>
          <p:nvPr/>
        </p:nvSpPr>
        <p:spPr>
          <a:xfrm>
            <a:off x="382693" y="3867912"/>
            <a:ext cx="8229600" cy="457200"/>
          </a:xfrm>
          <a:prstGeom prst="rect">
            <a:avLst/>
          </a:prstGeom>
          <a:solidFill>
            <a:srgbClr val="C9A547"/>
          </a:solidFill>
          <a:ln w="12700">
            <a:solidFill>
              <a:srgbClr val="C9A547"/>
            </a:solidFill>
            <a:prstDash val="solid"/>
          </a:ln>
        </p:spPr>
        <p:txBody>
          <a:bodyPr/>
          <a:lstStyle/>
          <a:p>
            <a:endParaRPr lang="en-US"/>
          </a:p>
        </p:txBody>
      </p:sp>
      <p:sp>
        <p:nvSpPr>
          <p:cNvPr id="17" name="Text 15">
            <a:extLst>
              <a:ext uri="{FF2B5EF4-FFF2-40B4-BE49-F238E27FC236}">
                <a16:creationId xmlns:a16="http://schemas.microsoft.com/office/drawing/2014/main" id="{D37E3D81-6162-5CDA-14C5-971D2B201C93}"/>
              </a:ext>
            </a:extLst>
          </p:cNvPr>
          <p:cNvSpPr/>
          <p:nvPr/>
        </p:nvSpPr>
        <p:spPr>
          <a:xfrm>
            <a:off x="640080" y="3867912"/>
            <a:ext cx="7863840" cy="457200"/>
          </a:xfrm>
          <a:prstGeom prst="rect">
            <a:avLst/>
          </a:prstGeom>
          <a:noFill/>
          <a:ln/>
        </p:spPr>
        <p:txBody>
          <a:bodyPr wrap="square" lIns="0" tIns="0" rIns="0" bIns="0" rtlCol="0" anchor="ctr"/>
          <a:lstStyle/>
          <a:p>
            <a:pPr marL="0" indent="0">
              <a:buNone/>
            </a:pPr>
            <a:r>
              <a:rPr lang="en-US" sz="1200" b="1" i="1">
                <a:solidFill>
                  <a:srgbClr val="0F2A4F"/>
                </a:solidFill>
                <a:latin typeface="Calibri" pitchFamily="34" charset="0"/>
                <a:ea typeface="Calibri" pitchFamily="34" charset="-122"/>
                <a:cs typeface="Calibri" pitchFamily="34" charset="-120"/>
              </a:rPr>
              <a:t>In the Bear case ($2.28), Evolv's intrinsic value remains below the current market price of $7.25.</a:t>
            </a:r>
            <a:endParaRPr lang="en-US" sz="1200"/>
          </a:p>
        </p:txBody>
      </p:sp>
      <p:sp>
        <p:nvSpPr>
          <p:cNvPr id="20" name="Text 18">
            <a:extLst>
              <a:ext uri="{FF2B5EF4-FFF2-40B4-BE49-F238E27FC236}">
                <a16:creationId xmlns:a16="http://schemas.microsoft.com/office/drawing/2014/main" id="{F7558422-0FF6-54B1-92BA-A62EEA910DA4}"/>
              </a:ext>
            </a:extLst>
          </p:cNvPr>
          <p:cNvSpPr/>
          <p:nvPr/>
        </p:nvSpPr>
        <p:spPr>
          <a:xfrm>
            <a:off x="457200" y="4864608"/>
            <a:ext cx="3657600" cy="228600"/>
          </a:xfrm>
          <a:prstGeom prst="rect">
            <a:avLst/>
          </a:prstGeom>
          <a:noFill/>
          <a:ln/>
        </p:spPr>
        <p:txBody>
          <a:bodyPr wrap="square" lIns="0" tIns="0" rIns="0" bIns="0" rtlCol="0" anchor="ctr"/>
          <a:lstStyle/>
          <a:p>
            <a:pPr marL="0" indent="0" algn="l">
              <a:buNone/>
            </a:pPr>
            <a:r>
              <a:rPr lang="en-US" sz="900">
                <a:solidFill>
                  <a:srgbClr val="5A6878"/>
                </a:solidFill>
                <a:latin typeface="Calibri" pitchFamily="34" charset="0"/>
                <a:ea typeface="Calibri" pitchFamily="34" charset="-122"/>
                <a:cs typeface="Calibri" pitchFamily="34" charset="-120"/>
              </a:rPr>
              <a:t>EVLV  |  M&amp;A Valuation</a:t>
            </a:r>
            <a:endParaRPr lang="en-US" sz="900"/>
          </a:p>
        </p:txBody>
      </p:sp>
      <p:sp>
        <p:nvSpPr>
          <p:cNvPr id="21" name="Text 19">
            <a:extLst>
              <a:ext uri="{FF2B5EF4-FFF2-40B4-BE49-F238E27FC236}">
                <a16:creationId xmlns:a16="http://schemas.microsoft.com/office/drawing/2014/main" id="{D94457DA-C37A-0646-F505-19ABBC74DD34}"/>
              </a:ext>
            </a:extLst>
          </p:cNvPr>
          <p:cNvSpPr/>
          <p:nvPr/>
        </p:nvSpPr>
        <p:spPr>
          <a:xfrm>
            <a:off x="8412480" y="4864608"/>
            <a:ext cx="548640" cy="228600"/>
          </a:xfrm>
          <a:prstGeom prst="rect">
            <a:avLst/>
          </a:prstGeom>
          <a:noFill/>
          <a:ln/>
        </p:spPr>
        <p:txBody>
          <a:bodyPr wrap="square" lIns="0" tIns="0" rIns="0" bIns="0" rtlCol="0" anchor="ctr"/>
          <a:lstStyle/>
          <a:p>
            <a:pPr marL="0" indent="0" algn="r">
              <a:buNone/>
            </a:pPr>
            <a:r>
              <a:rPr lang="en-US" sz="900">
                <a:solidFill>
                  <a:srgbClr val="5A6878"/>
                </a:solidFill>
                <a:latin typeface="Calibri" pitchFamily="34" charset="0"/>
                <a:ea typeface="Calibri" pitchFamily="34" charset="-122"/>
                <a:cs typeface="Calibri" pitchFamily="34" charset="-120"/>
              </a:rPr>
              <a:t>9 / 10</a:t>
            </a:r>
            <a:endParaRPr lang="en-US" sz="900"/>
          </a:p>
        </p:txBody>
      </p:sp>
      <p:pic>
        <p:nvPicPr>
          <p:cNvPr id="22" name="Picture 21">
            <a:extLst>
              <a:ext uri="{FF2B5EF4-FFF2-40B4-BE49-F238E27FC236}">
                <a16:creationId xmlns:a16="http://schemas.microsoft.com/office/drawing/2014/main" id="{29DDEEBC-08E2-A808-9AD3-7CD59A75F9D9}"/>
              </a:ext>
            </a:extLst>
          </p:cNvPr>
          <p:cNvPicPr>
            <a:picLocks noChangeAspect="1"/>
          </p:cNvPicPr>
          <p:nvPr/>
        </p:nvPicPr>
        <p:blipFill>
          <a:blip r:embed="rId3"/>
          <a:stretch>
            <a:fillRect/>
          </a:stretch>
        </p:blipFill>
        <p:spPr>
          <a:xfrm>
            <a:off x="382693" y="2739741"/>
            <a:ext cx="7772400" cy="962296"/>
          </a:xfrm>
          <a:prstGeom prst="rect">
            <a:avLst/>
          </a:prstGeom>
        </p:spPr>
      </p:pic>
    </p:spTree>
    <p:extLst>
      <p:ext uri="{BB962C8B-B14F-4D97-AF65-F5344CB8AC3E}">
        <p14:creationId xmlns:p14="http://schemas.microsoft.com/office/powerpoint/2010/main" val="19446178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a:extLst>
            <a:ext uri="{FF2B5EF4-FFF2-40B4-BE49-F238E27FC236}">
              <a16:creationId xmlns:a16="http://schemas.microsoft.com/office/drawing/2014/main" id="{6C9104DC-E180-3417-FC27-F9A22F15F7C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0306136-A417-D52E-5E32-AADA86802930}"/>
              </a:ext>
            </a:extLst>
          </p:cNvPr>
          <p:cNvSpPr/>
          <p:nvPr/>
        </p:nvSpPr>
        <p:spPr>
          <a:xfrm>
            <a:off x="457200" y="320040"/>
            <a:ext cx="8229600" cy="502920"/>
          </a:xfrm>
          <a:prstGeom prst="rect">
            <a:avLst/>
          </a:prstGeom>
          <a:noFill/>
          <a:ln/>
        </p:spPr>
        <p:txBody>
          <a:bodyPr wrap="square" lIns="0" tIns="0" rIns="0" bIns="0" rtlCol="0" anchor="ctr"/>
          <a:lstStyle/>
          <a:p>
            <a:pPr marL="0" indent="0">
              <a:buNone/>
            </a:pPr>
            <a:r>
              <a:rPr lang="en-US" sz="2600" b="1">
                <a:solidFill>
                  <a:srgbClr val="0F2A4F"/>
                </a:solidFill>
                <a:latin typeface="Georgia" pitchFamily="34" charset="0"/>
                <a:ea typeface="Georgia" pitchFamily="34" charset="-122"/>
                <a:cs typeface="Georgia" pitchFamily="34" charset="-120"/>
              </a:rPr>
              <a:t>Sensitivity Analysis</a:t>
            </a:r>
            <a:endParaRPr lang="en-US" sz="2600"/>
          </a:p>
        </p:txBody>
      </p:sp>
      <p:sp>
        <p:nvSpPr>
          <p:cNvPr id="3" name="Text 1">
            <a:extLst>
              <a:ext uri="{FF2B5EF4-FFF2-40B4-BE49-F238E27FC236}">
                <a16:creationId xmlns:a16="http://schemas.microsoft.com/office/drawing/2014/main" id="{2F779105-A68F-6A8C-F6AD-21A0B8B64349}"/>
              </a:ext>
            </a:extLst>
          </p:cNvPr>
          <p:cNvSpPr/>
          <p:nvPr/>
        </p:nvSpPr>
        <p:spPr>
          <a:xfrm>
            <a:off x="457200" y="841248"/>
            <a:ext cx="8229600" cy="274320"/>
          </a:xfrm>
          <a:prstGeom prst="rect">
            <a:avLst/>
          </a:prstGeom>
          <a:noFill/>
          <a:ln/>
        </p:spPr>
        <p:txBody>
          <a:bodyPr wrap="square" lIns="0" tIns="0" rIns="0" bIns="0" rtlCol="0" anchor="ctr"/>
          <a:lstStyle/>
          <a:p>
            <a:pPr marL="0" indent="0">
              <a:buNone/>
            </a:pPr>
            <a:r>
              <a:rPr lang="en-US" sz="1300" i="1">
                <a:solidFill>
                  <a:srgbClr val="5A6878"/>
                </a:solidFill>
                <a:latin typeface="Calibri" pitchFamily="34" charset="0"/>
                <a:ea typeface="Calibri" pitchFamily="34" charset="-122"/>
                <a:cs typeface="Calibri" pitchFamily="34" charset="-120"/>
              </a:rPr>
              <a:t>Conclusion holds across Bull/Base/Bear scenarios</a:t>
            </a:r>
            <a:endParaRPr lang="en-US" sz="1300"/>
          </a:p>
        </p:txBody>
      </p:sp>
      <p:sp>
        <p:nvSpPr>
          <p:cNvPr id="4" name="Shape 2">
            <a:extLst>
              <a:ext uri="{FF2B5EF4-FFF2-40B4-BE49-F238E27FC236}">
                <a16:creationId xmlns:a16="http://schemas.microsoft.com/office/drawing/2014/main" id="{1BD8832E-579A-C185-A370-D25943B3C3BF}"/>
              </a:ext>
            </a:extLst>
          </p:cNvPr>
          <p:cNvSpPr/>
          <p:nvPr/>
        </p:nvSpPr>
        <p:spPr>
          <a:xfrm>
            <a:off x="457200" y="1280160"/>
            <a:ext cx="2606040" cy="1371600"/>
          </a:xfrm>
          <a:prstGeom prst="rect">
            <a:avLst/>
          </a:prstGeom>
          <a:solidFill>
            <a:schemeClr val="accent1">
              <a:lumMod val="50000"/>
            </a:schemeClr>
          </a:solidFill>
          <a:ln w="12700">
            <a:solidFill>
              <a:srgbClr val="C8102E"/>
            </a:solidFill>
            <a:prstDash val="solid"/>
          </a:ln>
        </p:spPr>
        <p:txBody>
          <a:bodyPr/>
          <a:lstStyle/>
          <a:p>
            <a:endParaRPr lang="en-US"/>
          </a:p>
        </p:txBody>
      </p:sp>
      <p:sp>
        <p:nvSpPr>
          <p:cNvPr id="5" name="Text 3">
            <a:extLst>
              <a:ext uri="{FF2B5EF4-FFF2-40B4-BE49-F238E27FC236}">
                <a16:creationId xmlns:a16="http://schemas.microsoft.com/office/drawing/2014/main" id="{095A88DA-AB29-7807-04DE-C57D3DE0646A}"/>
              </a:ext>
            </a:extLst>
          </p:cNvPr>
          <p:cNvSpPr/>
          <p:nvPr/>
        </p:nvSpPr>
        <p:spPr>
          <a:xfrm>
            <a:off x="594360" y="1371600"/>
            <a:ext cx="2331720" cy="274320"/>
          </a:xfrm>
          <a:prstGeom prst="rect">
            <a:avLst/>
          </a:prstGeom>
          <a:noFill/>
          <a:ln/>
        </p:spPr>
        <p:txBody>
          <a:bodyPr wrap="square" lIns="0" tIns="0" rIns="0" bIns="0" rtlCol="0" anchor="ctr"/>
          <a:lstStyle/>
          <a:p>
            <a:r>
              <a:rPr lang="en-US" sz="1000" b="1" kern="0" spc="300">
                <a:solidFill>
                  <a:srgbClr val="C9A547"/>
                </a:solidFill>
                <a:latin typeface="Calibri" pitchFamily="34" charset="0"/>
                <a:ea typeface="Calibri" pitchFamily="34" charset="-122"/>
                <a:cs typeface="Calibri" pitchFamily="34" charset="-120"/>
              </a:rPr>
              <a:t>BULL CASE</a:t>
            </a:r>
            <a:endParaRPr lang="en-US" sz="1000"/>
          </a:p>
        </p:txBody>
      </p:sp>
      <p:sp>
        <p:nvSpPr>
          <p:cNvPr id="6" name="Text 4">
            <a:extLst>
              <a:ext uri="{FF2B5EF4-FFF2-40B4-BE49-F238E27FC236}">
                <a16:creationId xmlns:a16="http://schemas.microsoft.com/office/drawing/2014/main" id="{380F041C-073D-F014-9FD9-2B8ADEAA953A}"/>
              </a:ext>
            </a:extLst>
          </p:cNvPr>
          <p:cNvSpPr/>
          <p:nvPr/>
        </p:nvSpPr>
        <p:spPr>
          <a:xfrm>
            <a:off x="594360" y="1627632"/>
            <a:ext cx="2331720" cy="502920"/>
          </a:xfrm>
          <a:prstGeom prst="rect">
            <a:avLst/>
          </a:prstGeom>
          <a:noFill/>
          <a:ln/>
        </p:spPr>
        <p:txBody>
          <a:bodyPr wrap="square" lIns="0" tIns="0" rIns="0" bIns="0" rtlCol="0" anchor="ctr"/>
          <a:lstStyle/>
          <a:p>
            <a:r>
              <a:rPr lang="en-US" sz="3200" b="1">
                <a:solidFill>
                  <a:srgbClr val="FFFFFF"/>
                </a:solidFill>
                <a:latin typeface="Georgia" pitchFamily="34" charset="0"/>
                <a:ea typeface="Georgia" pitchFamily="34" charset="-122"/>
                <a:cs typeface="Georgia" pitchFamily="34" charset="-120"/>
              </a:rPr>
              <a:t>$6.44</a:t>
            </a:r>
            <a:endParaRPr lang="en-US" sz="3200"/>
          </a:p>
        </p:txBody>
      </p:sp>
      <p:sp>
        <p:nvSpPr>
          <p:cNvPr id="7" name="Text 5">
            <a:extLst>
              <a:ext uri="{FF2B5EF4-FFF2-40B4-BE49-F238E27FC236}">
                <a16:creationId xmlns:a16="http://schemas.microsoft.com/office/drawing/2014/main" id="{3377DB24-4483-3C3D-FF2C-70EB1E16F4D1}"/>
              </a:ext>
            </a:extLst>
          </p:cNvPr>
          <p:cNvSpPr/>
          <p:nvPr/>
        </p:nvSpPr>
        <p:spPr>
          <a:xfrm>
            <a:off x="594360" y="2194560"/>
            <a:ext cx="2331720" cy="411480"/>
          </a:xfrm>
          <a:prstGeom prst="rect">
            <a:avLst/>
          </a:prstGeom>
          <a:noFill/>
          <a:ln/>
        </p:spPr>
        <p:txBody>
          <a:bodyPr wrap="square" lIns="0" tIns="0" rIns="0" bIns="0" rtlCol="0" anchor="ctr"/>
          <a:lstStyle/>
          <a:p>
            <a:r>
              <a:rPr lang="en-US" sz="950" i="1">
                <a:solidFill>
                  <a:srgbClr val="CADCFC"/>
                </a:solidFill>
                <a:latin typeface="Calibri" pitchFamily="34" charset="0"/>
                <a:ea typeface="Calibri" pitchFamily="34" charset="-122"/>
                <a:cs typeface="Calibri" pitchFamily="34" charset="-120"/>
              </a:rPr>
              <a:t>Stronger growth, faster margin expansion, lower </a:t>
            </a:r>
            <a:r>
              <a:rPr lang="en-US" sz="950" i="1" err="1">
                <a:solidFill>
                  <a:srgbClr val="CADCFC"/>
                </a:solidFill>
                <a:latin typeface="Calibri" pitchFamily="34" charset="0"/>
                <a:ea typeface="Calibri" pitchFamily="34" charset="-122"/>
                <a:cs typeface="Calibri" pitchFamily="34" charset="-120"/>
              </a:rPr>
              <a:t>opex</a:t>
            </a:r>
            <a:endParaRPr lang="en-US" sz="950"/>
          </a:p>
        </p:txBody>
      </p:sp>
      <p:sp>
        <p:nvSpPr>
          <p:cNvPr id="13" name="Text 11">
            <a:extLst>
              <a:ext uri="{FF2B5EF4-FFF2-40B4-BE49-F238E27FC236}">
                <a16:creationId xmlns:a16="http://schemas.microsoft.com/office/drawing/2014/main" id="{99844226-A9A2-6653-90DE-40A22D5C3A24}"/>
              </a:ext>
            </a:extLst>
          </p:cNvPr>
          <p:cNvSpPr/>
          <p:nvPr/>
        </p:nvSpPr>
        <p:spPr>
          <a:xfrm>
            <a:off x="6172200" y="1371600"/>
            <a:ext cx="2331720" cy="274320"/>
          </a:xfrm>
          <a:prstGeom prst="rect">
            <a:avLst/>
          </a:prstGeom>
          <a:noFill/>
          <a:ln/>
        </p:spPr>
        <p:txBody>
          <a:bodyPr wrap="square" lIns="0" tIns="0" rIns="0" bIns="0" rtlCol="0" anchor="ctr"/>
          <a:lstStyle/>
          <a:p>
            <a:pPr marL="0" indent="0">
              <a:buNone/>
            </a:pPr>
            <a:endParaRPr lang="en-US" sz="1000"/>
          </a:p>
        </p:txBody>
      </p:sp>
      <p:sp>
        <p:nvSpPr>
          <p:cNvPr id="14" name="Text 12">
            <a:extLst>
              <a:ext uri="{FF2B5EF4-FFF2-40B4-BE49-F238E27FC236}">
                <a16:creationId xmlns:a16="http://schemas.microsoft.com/office/drawing/2014/main" id="{53E78927-B3DD-E3FE-B265-B0F3D6840B80}"/>
              </a:ext>
            </a:extLst>
          </p:cNvPr>
          <p:cNvSpPr/>
          <p:nvPr/>
        </p:nvSpPr>
        <p:spPr>
          <a:xfrm>
            <a:off x="6172200" y="1627632"/>
            <a:ext cx="2331720" cy="502920"/>
          </a:xfrm>
          <a:prstGeom prst="rect">
            <a:avLst/>
          </a:prstGeom>
          <a:noFill/>
          <a:ln/>
        </p:spPr>
        <p:txBody>
          <a:bodyPr wrap="square" lIns="0" tIns="0" rIns="0" bIns="0" rtlCol="0" anchor="ctr"/>
          <a:lstStyle/>
          <a:p>
            <a:pPr marL="0" indent="0">
              <a:buNone/>
            </a:pPr>
            <a:endParaRPr lang="en-US" sz="3200"/>
          </a:p>
        </p:txBody>
      </p:sp>
      <p:sp>
        <p:nvSpPr>
          <p:cNvPr id="16" name="Shape 14">
            <a:extLst>
              <a:ext uri="{FF2B5EF4-FFF2-40B4-BE49-F238E27FC236}">
                <a16:creationId xmlns:a16="http://schemas.microsoft.com/office/drawing/2014/main" id="{979E1975-EB7E-F6EF-ACE2-3E7A850A03C5}"/>
              </a:ext>
            </a:extLst>
          </p:cNvPr>
          <p:cNvSpPr/>
          <p:nvPr/>
        </p:nvSpPr>
        <p:spPr>
          <a:xfrm>
            <a:off x="457200" y="3887893"/>
            <a:ext cx="8229600" cy="457200"/>
          </a:xfrm>
          <a:prstGeom prst="rect">
            <a:avLst/>
          </a:prstGeom>
          <a:solidFill>
            <a:srgbClr val="C9A547"/>
          </a:solidFill>
          <a:ln w="12700">
            <a:solidFill>
              <a:srgbClr val="C9A547"/>
            </a:solidFill>
            <a:prstDash val="solid"/>
          </a:ln>
        </p:spPr>
        <p:txBody>
          <a:bodyPr/>
          <a:lstStyle/>
          <a:p>
            <a:endParaRPr lang="en-US"/>
          </a:p>
        </p:txBody>
      </p:sp>
      <p:sp>
        <p:nvSpPr>
          <p:cNvPr id="17" name="Text 15">
            <a:extLst>
              <a:ext uri="{FF2B5EF4-FFF2-40B4-BE49-F238E27FC236}">
                <a16:creationId xmlns:a16="http://schemas.microsoft.com/office/drawing/2014/main" id="{C8495EE0-5D20-E68E-E309-C62A10BC6576}"/>
              </a:ext>
            </a:extLst>
          </p:cNvPr>
          <p:cNvSpPr/>
          <p:nvPr/>
        </p:nvSpPr>
        <p:spPr>
          <a:xfrm>
            <a:off x="457200" y="3895344"/>
            <a:ext cx="7863840" cy="457200"/>
          </a:xfrm>
          <a:prstGeom prst="rect">
            <a:avLst/>
          </a:prstGeom>
          <a:noFill/>
          <a:ln/>
        </p:spPr>
        <p:txBody>
          <a:bodyPr wrap="square" lIns="0" tIns="0" rIns="0" bIns="0" rtlCol="0" anchor="ctr"/>
          <a:lstStyle/>
          <a:p>
            <a:pPr marL="0" indent="0">
              <a:buNone/>
            </a:pPr>
            <a:r>
              <a:rPr lang="en-US" sz="1200" b="1" i="1">
                <a:solidFill>
                  <a:srgbClr val="0F2A4F"/>
                </a:solidFill>
                <a:latin typeface="Calibri" pitchFamily="34" charset="0"/>
                <a:ea typeface="Calibri" pitchFamily="34" charset="-122"/>
                <a:cs typeface="Calibri" pitchFamily="34" charset="-120"/>
              </a:rPr>
              <a:t>Even in the Bull case ($6.44), Evolv's intrinsic value remains below the current market price of $7.25.</a:t>
            </a:r>
            <a:endParaRPr lang="en-US" sz="1200"/>
          </a:p>
        </p:txBody>
      </p:sp>
      <p:sp>
        <p:nvSpPr>
          <p:cNvPr id="20" name="Text 18">
            <a:extLst>
              <a:ext uri="{FF2B5EF4-FFF2-40B4-BE49-F238E27FC236}">
                <a16:creationId xmlns:a16="http://schemas.microsoft.com/office/drawing/2014/main" id="{AB6EAFDE-0BAD-E8BD-03F0-10AA7503785E}"/>
              </a:ext>
            </a:extLst>
          </p:cNvPr>
          <p:cNvSpPr/>
          <p:nvPr/>
        </p:nvSpPr>
        <p:spPr>
          <a:xfrm>
            <a:off x="457200" y="4864608"/>
            <a:ext cx="3657600" cy="228600"/>
          </a:xfrm>
          <a:prstGeom prst="rect">
            <a:avLst/>
          </a:prstGeom>
          <a:noFill/>
          <a:ln/>
        </p:spPr>
        <p:txBody>
          <a:bodyPr wrap="square" lIns="0" tIns="0" rIns="0" bIns="0" rtlCol="0" anchor="ctr"/>
          <a:lstStyle/>
          <a:p>
            <a:pPr marL="0" indent="0" algn="l">
              <a:buNone/>
            </a:pPr>
            <a:r>
              <a:rPr lang="en-US" sz="900">
                <a:solidFill>
                  <a:srgbClr val="5A6878"/>
                </a:solidFill>
                <a:latin typeface="Calibri" pitchFamily="34" charset="0"/>
                <a:ea typeface="Calibri" pitchFamily="34" charset="-122"/>
                <a:cs typeface="Calibri" pitchFamily="34" charset="-120"/>
              </a:rPr>
              <a:t>EVLV  |  M&amp;A Valuation</a:t>
            </a:r>
            <a:endParaRPr lang="en-US" sz="900"/>
          </a:p>
        </p:txBody>
      </p:sp>
      <p:sp>
        <p:nvSpPr>
          <p:cNvPr id="21" name="Text 19">
            <a:extLst>
              <a:ext uri="{FF2B5EF4-FFF2-40B4-BE49-F238E27FC236}">
                <a16:creationId xmlns:a16="http://schemas.microsoft.com/office/drawing/2014/main" id="{1A777AA9-E6CD-704E-C999-C12BD63BC7A4}"/>
              </a:ext>
            </a:extLst>
          </p:cNvPr>
          <p:cNvSpPr/>
          <p:nvPr/>
        </p:nvSpPr>
        <p:spPr>
          <a:xfrm>
            <a:off x="8412480" y="4864608"/>
            <a:ext cx="548640" cy="228600"/>
          </a:xfrm>
          <a:prstGeom prst="rect">
            <a:avLst/>
          </a:prstGeom>
          <a:noFill/>
          <a:ln/>
        </p:spPr>
        <p:txBody>
          <a:bodyPr wrap="square" lIns="0" tIns="0" rIns="0" bIns="0" rtlCol="0" anchor="ctr"/>
          <a:lstStyle/>
          <a:p>
            <a:pPr marL="0" indent="0" algn="r">
              <a:buNone/>
            </a:pPr>
            <a:r>
              <a:rPr lang="en-US" sz="900">
                <a:solidFill>
                  <a:srgbClr val="5A6878"/>
                </a:solidFill>
                <a:latin typeface="Calibri" pitchFamily="34" charset="0"/>
                <a:ea typeface="Calibri" pitchFamily="34" charset="-122"/>
                <a:cs typeface="Calibri" pitchFamily="34" charset="-120"/>
              </a:rPr>
              <a:t>9 / 10</a:t>
            </a:r>
            <a:endParaRPr lang="en-US" sz="900"/>
          </a:p>
        </p:txBody>
      </p:sp>
      <p:pic>
        <p:nvPicPr>
          <p:cNvPr id="22" name="Picture 21">
            <a:extLst>
              <a:ext uri="{FF2B5EF4-FFF2-40B4-BE49-F238E27FC236}">
                <a16:creationId xmlns:a16="http://schemas.microsoft.com/office/drawing/2014/main" id="{94119E45-E5EA-D654-2C62-B453D81C3B21}"/>
              </a:ext>
            </a:extLst>
          </p:cNvPr>
          <p:cNvPicPr>
            <a:picLocks noChangeAspect="1"/>
          </p:cNvPicPr>
          <p:nvPr/>
        </p:nvPicPr>
        <p:blipFill>
          <a:blip r:embed="rId3"/>
          <a:stretch>
            <a:fillRect/>
          </a:stretch>
        </p:blipFill>
        <p:spPr>
          <a:xfrm>
            <a:off x="457200" y="2816352"/>
            <a:ext cx="7772400" cy="985442"/>
          </a:xfrm>
          <a:prstGeom prst="rect">
            <a:avLst/>
          </a:prstGeom>
        </p:spPr>
      </p:pic>
    </p:spTree>
    <p:extLst>
      <p:ext uri="{BB962C8B-B14F-4D97-AF65-F5344CB8AC3E}">
        <p14:creationId xmlns:p14="http://schemas.microsoft.com/office/powerpoint/2010/main" val="28748786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0F2A4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02920"/>
          </a:xfrm>
          <a:prstGeom prst="rect">
            <a:avLst/>
          </a:prstGeom>
          <a:noFill/>
          <a:ln/>
        </p:spPr>
        <p:txBody>
          <a:bodyPr wrap="square" lIns="0" tIns="0" rIns="0" bIns="0" rtlCol="0" anchor="ctr"/>
          <a:lstStyle/>
          <a:p>
            <a:pPr marL="0" indent="0">
              <a:buNone/>
            </a:pPr>
            <a:r>
              <a:rPr lang="en-US" sz="2600" b="1">
                <a:solidFill>
                  <a:srgbClr val="FFFFFF"/>
                </a:solidFill>
                <a:latin typeface="Georgia" pitchFamily="34" charset="0"/>
                <a:ea typeface="Georgia" pitchFamily="34" charset="-122"/>
                <a:cs typeface="Georgia" pitchFamily="34" charset="-120"/>
              </a:rPr>
              <a:t>Acquisition Recommendation</a:t>
            </a:r>
            <a:endParaRPr lang="en-US" sz="2600"/>
          </a:p>
        </p:txBody>
      </p:sp>
      <p:sp>
        <p:nvSpPr>
          <p:cNvPr id="3" name="Text 1"/>
          <p:cNvSpPr/>
          <p:nvPr/>
        </p:nvSpPr>
        <p:spPr>
          <a:xfrm>
            <a:off x="457200" y="868680"/>
            <a:ext cx="8229600" cy="274320"/>
          </a:xfrm>
          <a:prstGeom prst="rect">
            <a:avLst/>
          </a:prstGeom>
          <a:noFill/>
          <a:ln/>
        </p:spPr>
        <p:txBody>
          <a:bodyPr wrap="square" lIns="0" tIns="0" rIns="0" bIns="0" rtlCol="0" anchor="ctr"/>
          <a:lstStyle/>
          <a:p>
            <a:pPr marL="0" indent="0">
              <a:buNone/>
            </a:pPr>
            <a:r>
              <a:rPr lang="en-US" sz="1300" i="1">
                <a:solidFill>
                  <a:srgbClr val="CADCFC"/>
                </a:solidFill>
                <a:latin typeface="Calibri" pitchFamily="34" charset="0"/>
                <a:ea typeface="Calibri" pitchFamily="34" charset="-122"/>
                <a:cs typeface="Calibri" pitchFamily="34" charset="-120"/>
              </a:rPr>
              <a:t>Final verdict and conditions for revisiting</a:t>
            </a:r>
            <a:endParaRPr lang="en-US" sz="1300"/>
          </a:p>
        </p:txBody>
      </p:sp>
      <p:sp>
        <p:nvSpPr>
          <p:cNvPr id="4" name="Shape 2"/>
          <p:cNvSpPr/>
          <p:nvPr/>
        </p:nvSpPr>
        <p:spPr>
          <a:xfrm>
            <a:off x="457200" y="1325880"/>
            <a:ext cx="8229600" cy="1051560"/>
          </a:xfrm>
          <a:prstGeom prst="rect">
            <a:avLst/>
          </a:prstGeom>
          <a:solidFill>
            <a:srgbClr val="C8102E"/>
          </a:solidFill>
          <a:ln w="12700">
            <a:solidFill>
              <a:srgbClr val="C8102E"/>
            </a:solidFill>
            <a:prstDash val="solid"/>
          </a:ln>
        </p:spPr>
        <p:txBody>
          <a:bodyPr/>
          <a:lstStyle/>
          <a:p>
            <a:endParaRPr lang="en-US"/>
          </a:p>
        </p:txBody>
      </p:sp>
      <p:sp>
        <p:nvSpPr>
          <p:cNvPr id="5" name="Text 3"/>
          <p:cNvSpPr/>
          <p:nvPr/>
        </p:nvSpPr>
        <p:spPr>
          <a:xfrm>
            <a:off x="457200" y="1371600"/>
            <a:ext cx="2743200" cy="960120"/>
          </a:xfrm>
          <a:prstGeom prst="rect">
            <a:avLst/>
          </a:prstGeom>
          <a:noFill/>
          <a:ln/>
        </p:spPr>
        <p:txBody>
          <a:bodyPr wrap="square" lIns="0" tIns="0" rIns="0" bIns="0" rtlCol="0" anchor="ctr"/>
          <a:lstStyle/>
          <a:p>
            <a:pPr marL="0" indent="0" algn="ctr">
              <a:buNone/>
            </a:pPr>
            <a:r>
              <a:rPr lang="en-US" sz="5600" b="1">
                <a:solidFill>
                  <a:srgbClr val="FFFFFF"/>
                </a:solidFill>
                <a:latin typeface="Georgia" pitchFamily="34" charset="0"/>
                <a:ea typeface="Georgia" pitchFamily="34" charset="-122"/>
                <a:cs typeface="Georgia" pitchFamily="34" charset="-120"/>
              </a:rPr>
              <a:t>PASS</a:t>
            </a:r>
            <a:endParaRPr lang="en-US" sz="5600"/>
          </a:p>
        </p:txBody>
      </p:sp>
      <p:sp>
        <p:nvSpPr>
          <p:cNvPr id="6" name="Text 4"/>
          <p:cNvSpPr/>
          <p:nvPr/>
        </p:nvSpPr>
        <p:spPr>
          <a:xfrm>
            <a:off x="3246120" y="1508760"/>
            <a:ext cx="5349240" cy="777240"/>
          </a:xfrm>
          <a:prstGeom prst="rect">
            <a:avLst/>
          </a:prstGeom>
          <a:noFill/>
          <a:ln/>
        </p:spPr>
        <p:txBody>
          <a:bodyPr wrap="square" lIns="0" tIns="0" rIns="0" bIns="0" rtlCol="0" anchor="ctr"/>
          <a:lstStyle/>
          <a:p>
            <a:pPr marL="0" indent="0">
              <a:buNone/>
            </a:pPr>
            <a:r>
              <a:rPr lang="en-US" sz="1600" b="1">
                <a:solidFill>
                  <a:srgbClr val="FFFFFF"/>
                </a:solidFill>
                <a:latin typeface="Calibri" pitchFamily="34" charset="0"/>
                <a:ea typeface="Calibri" pitchFamily="34" charset="-122"/>
                <a:cs typeface="Calibri" pitchFamily="34" charset="-120"/>
              </a:rPr>
              <a:t>DO NOT PURSUE AT CURRENT PRICE</a:t>
            </a:r>
            <a:endParaRPr lang="en-US" sz="1600"/>
          </a:p>
          <a:p>
            <a:pPr marL="0" indent="0">
              <a:buNone/>
            </a:pPr>
            <a:r>
              <a:rPr lang="en-US" sz="1100" i="1">
                <a:solidFill>
                  <a:srgbClr val="FAD7DC"/>
                </a:solidFill>
                <a:latin typeface="Calibri" pitchFamily="34" charset="0"/>
                <a:ea typeface="Calibri" pitchFamily="34" charset="-122"/>
                <a:cs typeface="Calibri" pitchFamily="34" charset="-120"/>
              </a:rPr>
              <a:t>Acquisition would require a control premium on top of an already overvalued price.</a:t>
            </a:r>
            <a:endParaRPr lang="en-US" sz="1600"/>
          </a:p>
        </p:txBody>
      </p:sp>
      <p:sp>
        <p:nvSpPr>
          <p:cNvPr id="7" name="Text 5"/>
          <p:cNvSpPr/>
          <p:nvPr/>
        </p:nvSpPr>
        <p:spPr>
          <a:xfrm>
            <a:off x="457200" y="2606040"/>
            <a:ext cx="8229600" cy="274320"/>
          </a:xfrm>
          <a:prstGeom prst="rect">
            <a:avLst/>
          </a:prstGeom>
          <a:noFill/>
          <a:ln/>
        </p:spPr>
        <p:txBody>
          <a:bodyPr wrap="square" lIns="0" tIns="0" rIns="0" bIns="0" rtlCol="0" anchor="ctr"/>
          <a:lstStyle/>
          <a:p>
            <a:pPr marL="0" indent="0">
              <a:buNone/>
            </a:pPr>
            <a:r>
              <a:rPr lang="en-US" sz="1100" b="1" kern="0" spc="300">
                <a:solidFill>
                  <a:srgbClr val="C9A547"/>
                </a:solidFill>
                <a:latin typeface="Calibri" pitchFamily="34" charset="0"/>
                <a:ea typeface="Calibri" pitchFamily="34" charset="-122"/>
                <a:cs typeface="Calibri" pitchFamily="34" charset="-120"/>
              </a:rPr>
              <a:t>WHEN TO RECONSIDER</a:t>
            </a:r>
            <a:endParaRPr lang="en-US" sz="1100"/>
          </a:p>
        </p:txBody>
      </p:sp>
      <p:sp>
        <p:nvSpPr>
          <p:cNvPr id="8" name="Shape 6"/>
          <p:cNvSpPr/>
          <p:nvPr/>
        </p:nvSpPr>
        <p:spPr>
          <a:xfrm>
            <a:off x="457200" y="3017520"/>
            <a:ext cx="54864" cy="457200"/>
          </a:xfrm>
          <a:prstGeom prst="rect">
            <a:avLst/>
          </a:prstGeom>
          <a:solidFill>
            <a:srgbClr val="C9A547"/>
          </a:solidFill>
          <a:ln w="12700">
            <a:solidFill>
              <a:srgbClr val="C9A547"/>
            </a:solidFill>
            <a:prstDash val="solid"/>
          </a:ln>
        </p:spPr>
        <p:txBody>
          <a:bodyPr/>
          <a:lstStyle/>
          <a:p>
            <a:endParaRPr lang="en-US"/>
          </a:p>
        </p:txBody>
      </p:sp>
      <p:sp>
        <p:nvSpPr>
          <p:cNvPr id="9" name="Text 7"/>
          <p:cNvSpPr/>
          <p:nvPr/>
        </p:nvSpPr>
        <p:spPr>
          <a:xfrm>
            <a:off x="640080" y="3017520"/>
            <a:ext cx="7955280" cy="228600"/>
          </a:xfrm>
          <a:prstGeom prst="rect">
            <a:avLst/>
          </a:prstGeom>
          <a:noFill/>
          <a:ln/>
        </p:spPr>
        <p:txBody>
          <a:bodyPr wrap="square" lIns="0" tIns="0" rIns="0" bIns="0" rtlCol="0" anchor="ctr"/>
          <a:lstStyle/>
          <a:p>
            <a:pPr marL="0" indent="0">
              <a:buNone/>
            </a:pPr>
            <a:r>
              <a:rPr lang="en-US" sz="1200" b="1">
                <a:solidFill>
                  <a:srgbClr val="FFFFFF"/>
                </a:solidFill>
                <a:latin typeface="Calibri" pitchFamily="34" charset="0"/>
                <a:ea typeface="Calibri" pitchFamily="34" charset="-122"/>
                <a:cs typeface="Calibri" pitchFamily="34" charset="-120"/>
              </a:rPr>
              <a:t>Quantifiable cross-sell synergies</a:t>
            </a:r>
            <a:endParaRPr lang="en-US" sz="1200"/>
          </a:p>
        </p:txBody>
      </p:sp>
      <p:sp>
        <p:nvSpPr>
          <p:cNvPr id="10" name="Text 8"/>
          <p:cNvSpPr/>
          <p:nvPr/>
        </p:nvSpPr>
        <p:spPr>
          <a:xfrm>
            <a:off x="640080" y="3246120"/>
            <a:ext cx="7955280" cy="274320"/>
          </a:xfrm>
          <a:prstGeom prst="rect">
            <a:avLst/>
          </a:prstGeom>
          <a:noFill/>
          <a:ln/>
        </p:spPr>
        <p:txBody>
          <a:bodyPr wrap="square" lIns="0" tIns="0" rIns="0" bIns="0" rtlCol="0" anchor="ctr"/>
          <a:lstStyle/>
          <a:p>
            <a:pPr marL="0" indent="0">
              <a:buNone/>
            </a:pPr>
            <a:r>
              <a:rPr lang="en-US" sz="1000">
                <a:solidFill>
                  <a:srgbClr val="CADCFC"/>
                </a:solidFill>
                <a:latin typeface="Calibri" pitchFamily="34" charset="0"/>
                <a:ea typeface="Calibri" pitchFamily="34" charset="-122"/>
                <a:cs typeface="Calibri" pitchFamily="34" charset="-120"/>
              </a:rPr>
              <a:t>Acquirer with adjacent customer base where Evolv's products can be sold without significant additional sales cost</a:t>
            </a:r>
            <a:endParaRPr lang="en-US" sz="1000"/>
          </a:p>
        </p:txBody>
      </p:sp>
      <p:sp>
        <p:nvSpPr>
          <p:cNvPr id="11" name="Shape 9"/>
          <p:cNvSpPr/>
          <p:nvPr/>
        </p:nvSpPr>
        <p:spPr>
          <a:xfrm>
            <a:off x="457200" y="3566160"/>
            <a:ext cx="54864" cy="457200"/>
          </a:xfrm>
          <a:prstGeom prst="rect">
            <a:avLst/>
          </a:prstGeom>
          <a:solidFill>
            <a:srgbClr val="C9A547"/>
          </a:solidFill>
          <a:ln w="12700">
            <a:solidFill>
              <a:srgbClr val="C9A547"/>
            </a:solidFill>
            <a:prstDash val="solid"/>
          </a:ln>
        </p:spPr>
        <p:txBody>
          <a:bodyPr/>
          <a:lstStyle/>
          <a:p>
            <a:endParaRPr lang="en-US"/>
          </a:p>
        </p:txBody>
      </p:sp>
      <p:sp>
        <p:nvSpPr>
          <p:cNvPr id="12" name="Text 10"/>
          <p:cNvSpPr/>
          <p:nvPr/>
        </p:nvSpPr>
        <p:spPr>
          <a:xfrm>
            <a:off x="640080" y="3566160"/>
            <a:ext cx="7955280" cy="228600"/>
          </a:xfrm>
          <a:prstGeom prst="rect">
            <a:avLst/>
          </a:prstGeom>
          <a:noFill/>
          <a:ln/>
        </p:spPr>
        <p:txBody>
          <a:bodyPr wrap="square" lIns="0" tIns="0" rIns="0" bIns="0" rtlCol="0" anchor="ctr"/>
          <a:lstStyle/>
          <a:p>
            <a:pPr marL="0" indent="0">
              <a:buNone/>
            </a:pPr>
            <a:r>
              <a:rPr lang="en-US" sz="1200" b="1">
                <a:solidFill>
                  <a:srgbClr val="FFFFFF"/>
                </a:solidFill>
                <a:latin typeface="Calibri" pitchFamily="34" charset="0"/>
                <a:ea typeface="Calibri" pitchFamily="34" charset="-122"/>
                <a:cs typeface="Calibri" pitchFamily="34" charset="-120"/>
              </a:rPr>
              <a:t>Platform integration value</a:t>
            </a:r>
            <a:endParaRPr lang="en-US" sz="1200"/>
          </a:p>
        </p:txBody>
      </p:sp>
      <p:sp>
        <p:nvSpPr>
          <p:cNvPr id="13" name="Text 11"/>
          <p:cNvSpPr/>
          <p:nvPr/>
        </p:nvSpPr>
        <p:spPr>
          <a:xfrm>
            <a:off x="640080" y="3794760"/>
            <a:ext cx="7955280" cy="274320"/>
          </a:xfrm>
          <a:prstGeom prst="rect">
            <a:avLst/>
          </a:prstGeom>
          <a:noFill/>
          <a:ln/>
        </p:spPr>
        <p:txBody>
          <a:bodyPr wrap="square" lIns="0" tIns="0" rIns="0" bIns="0" rtlCol="0" anchor="ctr"/>
          <a:lstStyle/>
          <a:p>
            <a:pPr marL="0" indent="0">
              <a:buNone/>
            </a:pPr>
            <a:r>
              <a:rPr lang="en-US" sz="1000">
                <a:solidFill>
                  <a:srgbClr val="CADCFC"/>
                </a:solidFill>
                <a:latin typeface="Calibri" pitchFamily="34" charset="0"/>
                <a:ea typeface="Calibri" pitchFamily="34" charset="-122"/>
                <a:cs typeface="Calibri" pitchFamily="34" charset="-120"/>
              </a:rPr>
              <a:t>Acquirer can integrate Evolv's detection technology into existing security platforms, creating value not available to standalone buyers</a:t>
            </a:r>
            <a:endParaRPr lang="en-US" sz="1000"/>
          </a:p>
        </p:txBody>
      </p:sp>
      <p:sp>
        <p:nvSpPr>
          <p:cNvPr id="14" name="Shape 12"/>
          <p:cNvSpPr/>
          <p:nvPr/>
        </p:nvSpPr>
        <p:spPr>
          <a:xfrm>
            <a:off x="457200" y="4114800"/>
            <a:ext cx="54864" cy="457200"/>
          </a:xfrm>
          <a:prstGeom prst="rect">
            <a:avLst/>
          </a:prstGeom>
          <a:solidFill>
            <a:srgbClr val="C9A547"/>
          </a:solidFill>
          <a:ln w="12700">
            <a:solidFill>
              <a:srgbClr val="C9A547"/>
            </a:solidFill>
            <a:prstDash val="solid"/>
          </a:ln>
        </p:spPr>
        <p:txBody>
          <a:bodyPr/>
          <a:lstStyle/>
          <a:p>
            <a:endParaRPr lang="en-US"/>
          </a:p>
        </p:txBody>
      </p:sp>
      <p:sp>
        <p:nvSpPr>
          <p:cNvPr id="15" name="Text 13"/>
          <p:cNvSpPr/>
          <p:nvPr/>
        </p:nvSpPr>
        <p:spPr>
          <a:xfrm>
            <a:off x="640080" y="4114800"/>
            <a:ext cx="7955280" cy="228600"/>
          </a:xfrm>
          <a:prstGeom prst="rect">
            <a:avLst/>
          </a:prstGeom>
          <a:noFill/>
          <a:ln/>
        </p:spPr>
        <p:txBody>
          <a:bodyPr wrap="square" lIns="0" tIns="0" rIns="0" bIns="0" rtlCol="0" anchor="ctr"/>
          <a:lstStyle/>
          <a:p>
            <a:pPr marL="0" indent="0">
              <a:buNone/>
            </a:pPr>
            <a:r>
              <a:rPr lang="en-US" sz="1200" b="1">
                <a:solidFill>
                  <a:srgbClr val="FFFFFF"/>
                </a:solidFill>
                <a:latin typeface="Calibri" pitchFamily="34" charset="0"/>
                <a:ea typeface="Calibri" pitchFamily="34" charset="-122"/>
                <a:cs typeface="Calibri" pitchFamily="34" charset="-120"/>
              </a:rPr>
              <a:t>Material price correction</a:t>
            </a:r>
            <a:endParaRPr lang="en-US" sz="1200"/>
          </a:p>
        </p:txBody>
      </p:sp>
      <p:sp>
        <p:nvSpPr>
          <p:cNvPr id="16" name="Text 14"/>
          <p:cNvSpPr/>
          <p:nvPr/>
        </p:nvSpPr>
        <p:spPr>
          <a:xfrm>
            <a:off x="640080" y="4343400"/>
            <a:ext cx="7955280" cy="274320"/>
          </a:xfrm>
          <a:prstGeom prst="rect">
            <a:avLst/>
          </a:prstGeom>
          <a:noFill/>
          <a:ln/>
        </p:spPr>
        <p:txBody>
          <a:bodyPr wrap="square" lIns="0" tIns="0" rIns="0" bIns="0" rtlCol="0" anchor="ctr"/>
          <a:lstStyle/>
          <a:p>
            <a:pPr marL="0" indent="0">
              <a:buNone/>
            </a:pPr>
            <a:r>
              <a:rPr lang="en-US" sz="1000">
                <a:solidFill>
                  <a:srgbClr val="CADCFC"/>
                </a:solidFill>
                <a:latin typeface="Calibri" pitchFamily="34" charset="0"/>
                <a:ea typeface="Calibri" pitchFamily="34" charset="-122"/>
                <a:cs typeface="Calibri" pitchFamily="34" charset="-120"/>
              </a:rPr>
              <a:t>Stock declines to within 10-15% of intrinsic value, narrowing the premium gap to acceptable levels</a:t>
            </a:r>
            <a:endParaRPr lang="en-US" sz="1000"/>
          </a:p>
        </p:txBody>
      </p:sp>
      <p:sp>
        <p:nvSpPr>
          <p:cNvPr id="17" name="Text 15"/>
          <p:cNvSpPr/>
          <p:nvPr/>
        </p:nvSpPr>
        <p:spPr>
          <a:xfrm>
            <a:off x="457200" y="4709160"/>
            <a:ext cx="8229600" cy="274320"/>
          </a:xfrm>
          <a:prstGeom prst="rect">
            <a:avLst/>
          </a:prstGeom>
          <a:noFill/>
          <a:ln/>
        </p:spPr>
        <p:txBody>
          <a:bodyPr wrap="square" lIns="0" tIns="0" rIns="0" bIns="0" rtlCol="0" anchor="ctr"/>
          <a:lstStyle/>
          <a:p>
            <a:pPr marL="0" indent="0" algn="ctr">
              <a:buNone/>
            </a:pPr>
            <a:r>
              <a:rPr lang="en-US" sz="1100" i="1">
                <a:solidFill>
                  <a:srgbClr val="C9A547"/>
                </a:solidFill>
                <a:latin typeface="Calibri" pitchFamily="34" charset="0"/>
                <a:ea typeface="Calibri" pitchFamily="34" charset="-122"/>
                <a:cs typeface="Calibri" pitchFamily="34" charset="-120"/>
              </a:rPr>
              <a:t>Thank you  |  Questions?</a:t>
            </a:r>
            <a:endParaRPr lang="en-US" sz="11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12</Slides>
  <Notes>12</Notes>
  <HiddenSlides>0</HiddenSlide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EVLV M&amp;A Valuation Analysis</dc:title>
  <dc:subject>PptxGenJS Presentation</dc:subject>
  <dc:creator>MLT Risk Management Group</dc:creator>
  <cp:revision>2</cp:revision>
  <dcterms:created xsi:type="dcterms:W3CDTF">2026-05-07T02:06:38Z</dcterms:created>
  <dcterms:modified xsi:type="dcterms:W3CDTF">2026-07-03T22:28:39Z</dcterms:modified>
</cp:coreProperties>
</file>